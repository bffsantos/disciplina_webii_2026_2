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total: 2h. Continuação direta da aula de DTOs, status codes e erros padronizados, usando o mesmo CRUD de usuários. Pré-requisitos no projeto: npm install bcrypt jsonwebtoken, e um arquivo .env com JWT_SECRET. Antes de começar: servidor rodando, requests.http (ou Insomnia/Postman) aberto e o site jwt.io numa aba para a demo de decodificar o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(0:05 a 0:30). Objetivo: a turma entender o problema (HTTP não lembra de ninguém) antes de ver qualquer linha de código, e saber ler um 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é stateless: o servidor não guarda nada entre uma requisição e outra. Analogia que funciona bem: show com pulseira. Você mostra o ingresso e o documento uma vez na entrada (login), recebe uma pulseira (token) e daí pra frente só mostra a pulseira em cada bar ou área. Ninguém pede seu RG de novo, mas a pulseira tem que ser difícil de falsificar. Guarde essa analogia, ela volta no slide da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nomes em inglês confundem: authentication (authn) e authorization (authz). O status 401 se chama Unauthorized, mas na prática significa "não autenticado". A autorização sempre vem depois: não dá pra saber o que alguém pode fazer sem antes saber quem é. Na pulseira do show: a pulseira prova que você entrou (autenticação); a cor da pulseira diz se você pode ir pro camarote (autorização).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e payload são só JSON convertido em Base64URL: qualquer um decodifica. Demo rápida: cole um token no jwt.io e mostre o payload aparecendo. Claims padrão: sub (subject, o id do usuário), iat (issued at, quando foi emitido), exp (expiration, quando expira), ambos em segundos desde 1970. role é um claim nosso. A assinatura é o que torna o token confiável,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Volte na pulseira do show: a pulseira tem um holograma que só a organização sabe fazer. Você pode pintar sua pulseira de VIP, mas o holograma não vai bater. Demo no jwt.io: troque user por admin no payload e mostre que a assinatura muda; na API, esse token dá 401. Ligue com a aula de GitHub: o segredo vai no .env, o .env vai no .gitignore, e o repositório tem só um .env.example sem o valor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evita os erros que mais aparecem nos trabalhos. Sobre o logout: em produção se resolve com expiração curta mais refresh token, ou com uma lista de tokens revogados; fica como desafio do exercício. Sobre o payload: coloque o mínimo necessário (id e papel). Nome e e-mail o front pega na rota GET /me.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(0:30 a 0:40). Curto: a turma já viu o passwordHash no mapper da aula passada (toPersistence recebia o hash). Agora é ver de onde ele 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hash simples da tabela é o MD5 de 123456 (encurtado); joguem no Google e o resultado aparece na hora. MD5 e SHA são feitos para ser rápidos, e é exatamente isso que um atacante quer: testar bilhões de senhas por segundo, ou usar tabelas prontas de hashes conhecidos. O bcrypt embute o salt e o custo dentro da própria string: $2b$ é a versão, 10 é o custo, o resto é salt mais hash. Por isso basta uma coluna passwordHash.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Instalação: npm install bcrypt. Se der problema de compilação no Windows dos alunos, use npm install bcryptjs: a API é idêntica, só muda o import. Mostre que o toResponse continua não devolvendo o passwordHash: o mapper da aula passada já protege isso. Valor 10 de custo é o padrão razoável; cada +1 dobra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(0:40 a 1:00). Primeiro o fluxo inteiro no quadro, depois o código do service e por fim o formato da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Desenhe isso no quadro com duas colunas (cliente e API) e setas indo e voltando; o slide serve de cola. Passos 1 a 3 acontecem uma vez por login. Passos 4 e 5 se repetem em toda requisição protegida, até o token expirar. Repare que no passo 5 a API não consulta o banco para saber quem é o usuário: está tudo no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npm install jsonwebtoken. UnauthorizedError é um AppError novo com statusCode 401, igual ao NotFoundError da aula passada; o errorHandler já sabe o que fazer com ele. O sub vira string porque a especificação do JWT define o subject como texto. O role precisa existir no model: uma coluna role com default 'user' (migração simples). O login usa um DTO de entrada com Zod: LoginDTO com email e password obrigatórios.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Ressalte três coisas. 1) O user da resposta passa pelo mapper: nada de passwordHash. 2) O header é Authorization com a palavra Bearer, um espaço e o token; é o padrão que todo front, Insomnia e Postman entendem. 3) O erro sai no mesmo formato padronizado da aula passada; ajuste os nomes dos campos (error, message) para o formato que a turma adotou no AppError.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(1:00 a 1:25). É aqui que a ideia de middleware da aula de validação volta: o validate rodava antes do controller; o authenticate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para a turma: por que o next() não fica dentro do try? Porque se o controller lançar, por exemplo, um NotFoundError síncrono, o catch pegaria e transformaria em "token inválido". Bug clássico. O throw dentro de um middleware síncrono é capturado pelo Express e vai direto para o errorHandler, então não precisa de res.status aqui. Se a turma estiver no Express 4 com middlewares async, lembre do next(err) ou do express-async-errors que usaram na aula passada.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authorize é uma função que devolve um middleware (uma fábrica), por isso dá pra escrever authorize('admin') ou authorize('admin', 'professor') direto na rota. Sempre vem depois do authenticate, porque depende do req.user. A regra de dono depende de dados (qual recurso, de quem é), então mora no service, que recebe o req.user do controller. Para posts: buscar o post e comparar post.authorId com currentUser.id. ForbiddenError é o AppError de status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importa: autenticar antes de validar o body evita gastar validação com quem nem está logado, e o authorize depende do req.user que o authenticate preenche. Alternativa para muitas rotas: router.use(authenticate) logo depois das rotas públicas, e tudo que vier abaixo fica protegido. O controller users.me só faz: busca req.user.id no service e devolve UserMapper.toResponse.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dinâmica do quiz de status codes: 3 minutos para cada um anotar, depois discussão nos itens com divergência (normalmente 4 e 6). Os itens 7 e 8 estão ali de propósito para lembrar que nem tudo em autenticação é 401 ou 403. Respostas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para levar: 401 quando a API não sabe (ou não confia em) quem está chamando; 403 quando sabe quem é, mas essa pessoa não tem permissão. Sobre o 6: algumas APIs devolvem 404 em vez de 403 para não revelar que o recurso existe (o GitHub faz isso com repositórios privados). Os dois são aceitáveis, desde que a API seja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5 (1:25 a 1:40). Se a aula estiver atrasada, mostre só a tabela de onde guardar e o slide de boas práticas vira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XSS: se alguém conseguir injetar um script na página (um comentário mal escapado, uma biblioteca comprometida), esse script lê o localStorage e leva o token embora. Com cookie httpOnly, o navegador manda o cookie sozinho e o JavaScript nem enxerga. Em Express: res.cookie('token', token, { httpOnly: true, secure: true, sameSite: 'strict' }) e o authenticate lê de req.cookies (pacote cookie-parser). Para a disciplina, localStorage é aceitável, mas os alunos precisam saber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Segredo: gere com node -e "console.log(require('crypto').randomBytes(32).toString('hex'))". Limite no login: pacote express-rate-limit, por exemplo 5 tentativas por minuto por IP. O último é o mais esquecido: se o RegisterDTO aceitar role, qualquer um se cadastra como admin. O Zod ajuda aqui: o schema só tem name, email e password, e o parse descarta o resto. O primeiro admin se cria por seed ou direto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6 (1:40 a 2:00). Demo de 5 minutos, depois exercício. O que não terminar em aula vira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Dica para a demo: no REST Client do VS Code, nomeie a requisição de login com # @name login e use {{login.response.body.token}} nas seguintes, assim ninguém precisa copiar e colar token. No passo 6, cole o token no jwt.io, troque role para admin, copie o token novo e mostre o 401. Para o passo 8, deixe um admin criado por seed antes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de pronto: os 8 passos da demo funcionando no projeto do aluno. Para quem usa Sequelize ou Prisma, a coluna role pode ser um enum ('user', 'admin'). Lembre de criar o .env.example com JWT_SECRET= e JWT_EXPIRES_IN=1h, e de conferir que o .env está no .gitignore antes do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Junte com o checklist da aula de DTOs: os dois juntos viram um bom critério de correção para o trabalho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voltando à pergunta do início: quem consegue chamar DELETE /users/1 agora? Só um admin com token válido. Gancho para a próxima aula: o front consumindo essa API (guardar o token, mandar no header, tratar o 401 redirecionando para o login).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 II · BACK-END COM EXPRESS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289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está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chamando a API?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8150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Autenticação com JWT: senhas com bcrypt, login, rotas protegidas e papéis de usuário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Conceitos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Autenticação, sessão, token e a anatomia de um JWT · 25 min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HTTP não lembra de ninguém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711549"/>
            <a:ext cx="10553700" cy="652760"/>
          </a:xfrm>
          <a:prstGeom prst="roundRect">
            <a:avLst>
              <a:gd name="adj" fmla="val 1459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913459"/>
            <a:ext cx="34010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 /auth/login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59300" y="2895699"/>
            <a:ext cx="35298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“Sou a Ana, minha senha é ****”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3504009"/>
            <a:ext cx="10553700" cy="652760"/>
          </a:xfrm>
          <a:prstGeom prst="roundRect">
            <a:avLst>
              <a:gd name="adj" fmla="val 1459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4100" y="3705920"/>
            <a:ext cx="34010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9300" y="3688159"/>
            <a:ext cx="264152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“Quem é você mesmo?”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5318919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requisição chega </a:t>
            </a: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sozinha</a:t>
            </a: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 precisa trazer a prova de quem a enviou.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DUAS PERGUNTAS DIFERENTES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Autenticação x autorização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43500" cy="4178399"/>
          </a:xfrm>
          <a:prstGeom prst="roundRect">
            <a:avLst>
              <a:gd name="adj" fmla="val 228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5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0300" y="217160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0300" y="2705001"/>
            <a:ext cx="46568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Autenticação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30300" y="3197721"/>
            <a:ext cx="46568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</a:t>
            </a: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</a:t>
            </a: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você?”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30300" y="3654921"/>
            <a:ext cx="46568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Login, senha, token válido.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0300" y="4048621"/>
            <a:ext cx="46568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2F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Falhou → 401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29350" y="1860451"/>
            <a:ext cx="5143500" cy="4178399"/>
          </a:xfrm>
          <a:prstGeom prst="roundRect">
            <a:avLst>
              <a:gd name="adj" fmla="val 228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1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0500" y="2171601"/>
            <a:ext cx="40640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40500" y="2705001"/>
            <a:ext cx="46568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Autorização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40500" y="3197721"/>
            <a:ext cx="46568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“O que você </a:t>
            </a: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</a:t>
            </a: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fazer?”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40500" y="3654921"/>
            <a:ext cx="46568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Papel (admin, user), dono do recurso.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40500" y="4048621"/>
            <a:ext cx="46568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2F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Falhou → 403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JSON WEB TOKEN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partes separadas por ponto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01"/>
            <a:ext cx="10566400" cy="1320800"/>
          </a:xfrm>
          <a:prstGeom prst="roundRect">
            <a:avLst>
              <a:gd name="adj" fmla="val 7692"/>
            </a:avLst>
          </a:prstGeom>
          <a:solidFill>
            <a:srgbClr val="1B2233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eyJhbGciOiJIUzI1NiIsInR5cCI6IkpXVCJ9</a:t>
            </a:r>
            <a:r>
              <a:rPr lang="en-US" sz="16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B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eyJzdWIiOiI0MiIsInJvbGUiOiJ1c2VyIi…</a:t>
            </a:r>
            <a:r>
              <a:rPr lang="en-US" sz="16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BD0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kX9tq2…Qw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3384451"/>
            <a:ext cx="3136106" cy="1353741"/>
          </a:xfrm>
          <a:prstGeom prst="roundRect">
            <a:avLst>
              <a:gd name="adj" fmla="val 703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3568601"/>
            <a:ext cx="279851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700" y="3891161"/>
            <a:ext cx="279851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"alg": "HS256",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"typ": "JWT"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20356" y="3384451"/>
            <a:ext cx="3951288" cy="1353741"/>
          </a:xfrm>
          <a:prstGeom prst="roundRect">
            <a:avLst>
              <a:gd name="adj" fmla="val 703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9906" y="3568601"/>
            <a:ext cx="363815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29906" y="3891161"/>
            <a:ext cx="3638153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"sub": "42", "role": "user",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"iat": 1792440000,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"exp": 1792443600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36744" y="3384451"/>
            <a:ext cx="3136106" cy="1353741"/>
          </a:xfrm>
          <a:prstGeom prst="roundRect">
            <a:avLst>
              <a:gd name="adj" fmla="val 703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6294" y="3568601"/>
            <a:ext cx="279851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46294" y="3891161"/>
            <a:ext cx="27985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HMAC-SHA256 de header + payload, usando o </a:t>
            </a:r>
            <a:r>
              <a:rPr lang="en-US" sz="13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JWT_SECRET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 QUE NÃO DÁ PARA FALSIFICAR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assinatura denuncia qualquer alteração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3373934" cy="1318220"/>
          </a:xfrm>
          <a:prstGeom prst="roundRect">
            <a:avLst>
              <a:gd name="adj" fmla="val 722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095401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ALGUÉM EDITA O PAYLOAD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410321"/>
            <a:ext cx="29911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"role": "user"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E2F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"role": "admin"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8984" y="1860451"/>
            <a:ext cx="3374033" cy="1318220"/>
          </a:xfrm>
          <a:prstGeom prst="roundRect">
            <a:avLst>
              <a:gd name="adj" fmla="val 722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934" y="2095401"/>
            <a:ext cx="2991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A API RECALCULA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3934" y="2410321"/>
            <a:ext cx="29912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Assina header + payload com o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segredo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só ela conhece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8916" y="1860451"/>
            <a:ext cx="3373934" cy="1318220"/>
          </a:xfrm>
          <a:prstGeom prst="roundRect">
            <a:avLst>
              <a:gd name="adj" fmla="val 7226"/>
            </a:avLst>
          </a:prstGeom>
          <a:solidFill>
            <a:srgbClr val="F9E3DF"/>
          </a:solidFill>
          <a:ln w="12700">
            <a:solidFill>
              <a:srgbClr val="C44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3866" y="2095401"/>
            <a:ext cx="2991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2F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NÃO BATE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33866" y="2410321"/>
            <a:ext cx="29911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Assinatura diferente da que veio no token →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489821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tem o </a:t>
            </a:r>
            <a:r>
              <a:rPr lang="en-US" sz="22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JWT_SECRET</a:t>
            </a: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emite tokens.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isso ele </a:t>
            </a: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nunca</a:t>
            </a: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vai para o GitHub.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CUIDADO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confusões comuns sobre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10553700" cy="952500"/>
          </a:xfrm>
          <a:prstGeom prst="roundRect">
            <a:avLst>
              <a:gd name="adj" fmla="val 1000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85591"/>
            <a:ext cx="405511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“O token é criptografado”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70500" y="2070001"/>
            <a:ext cx="60172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Não.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só assinado. Qualquer um lê o payload: nada de senha, CPF ou dado sensível ali.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9150" y="2978051"/>
            <a:ext cx="10553700" cy="721320"/>
          </a:xfrm>
          <a:prstGeom prst="roundRect">
            <a:avLst>
              <a:gd name="adj" fmla="val 13205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" y="3187601"/>
            <a:ext cx="405511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“Logout invalida o token”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70500" y="3205361"/>
            <a:ext cx="60172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Não.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front apaga o token, mas ele continua válido até o exp.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" y="3864471"/>
            <a:ext cx="10553700" cy="952500"/>
          </a:xfrm>
          <a:prstGeom prst="roundRect">
            <a:avLst>
              <a:gd name="adj" fmla="val 1000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" y="4189611"/>
            <a:ext cx="405511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“Token longo é mais prático”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70500" y="4074021"/>
            <a:ext cx="60172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Arriscado.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Token roubado funciona até expirar. Prefira expiração curta.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Senhas com bcrypt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do login, o cadastro precisa guardar a senha do jeito certo · 10 min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REGRA DE OURO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banco nunca guarda a senha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045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54101"/>
            <a:ext cx="0" cy="178514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1981101"/>
          <a:ext cx="10248900" cy="1543844"/>
        </p:xfrm>
        <a:graphic>
          <a:graphicData uri="http://schemas.openxmlformats.org/drawingml/2006/table">
            <a:tbl>
              <a:tblPr/>
              <a:tblGrid>
                <a:gridCol w="2664714"/>
                <a:gridCol w="4509516"/>
                <a:gridCol w="307467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Como guarda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Coluna password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Vazou o banco?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Texto puro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123456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9E2F24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Todas expostas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Hash simples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e10adc3949ba59ab…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9E2F24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Quebra por tabela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bcrypt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$2b$10$N9qo8uLOickgx2Z…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6B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Lento de quebrar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3944045"/>
            <a:ext cx="34882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Hash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mão única: não existe “descriptografar”. No login, a gente compara.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02634" y="3944045"/>
            <a:ext cx="348833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Salt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aleatório: duas pessoas com 123456 têm hashes diferentes.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92566" y="3944045"/>
            <a:ext cx="34882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(rounds): o bcrypt é lento de propósito, e isso trava ataques de força bruta.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SERVICES/AUTH.SERVICE.JS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funções resolvem tudo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6747173" cy="3720802"/>
          </a:xfrm>
          <a:prstGeom prst="roundRect">
            <a:avLst>
              <a:gd name="adj" fmla="val 2731"/>
            </a:avLst>
          </a:prstGeom>
          <a:solidFill>
            <a:srgbClr val="1B2233"/>
          </a:solidFill>
          <a:ln/>
        </p:spPr>
        <p:txBody>
          <a:bodyPr wrap="square" lIns="224242" tIns="173442" rIns="37067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bcrypt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'bcrypt';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SALT_ROUNDS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cadastro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register(dto)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userRepository.findByEmail(dto.email))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ConflictError('E-mail já cadastrado');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hash =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bcrypt.hash(dto.password, SALT_ROUNDS);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 =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userRepository.create(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UserMapper.toPersistence(dto, hash));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UserMapper.toResponse(user);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login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ok =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bcrypt.compare(password, user.passwordHash);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3973" y="273655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hash: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gera salt + hash numa string só. Sempre com await.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3973" y="344775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recebe a senha digitada e o hash do banco e devolve true ou false.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3973" y="415895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Reaproveitado: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ConflictError e UserMapper vêm da aula passada.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Login: gerando o token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e-mail e senha até a “pulseira” na mão do cliente · 20 min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 FLUXO COMPLETO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login à primeira rota protegida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965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58181"/>
            <a:ext cx="431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97000" y="1943001"/>
            <a:ext cx="1651000" cy="314920"/>
          </a:xfrm>
          <a:prstGeom prst="roundRect">
            <a:avLst>
              <a:gd name="adj" fmla="val 48393"/>
            </a:avLst>
          </a:prstGeom>
          <a:solidFill>
            <a:srgbClr val="3D6FB8"/>
          </a:solidFill>
          <a:ln/>
        </p:spPr>
        <p:txBody>
          <a:bodyPr wrap="square" lIns="56964" tIns="6164" rIns="56964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cliente →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51200" y="1976041"/>
            <a:ext cx="83718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 /auth/login { email, password 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39127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539802"/>
            <a:ext cx="431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524621"/>
            <a:ext cx="1651000" cy="314920"/>
          </a:xfrm>
          <a:prstGeom prst="roundRect">
            <a:avLst>
              <a:gd name="adj" fmla="val 48393"/>
            </a:avLst>
          </a:prstGeom>
          <a:solidFill>
            <a:srgbClr val="F6C9A2"/>
          </a:solidFill>
          <a:ln/>
        </p:spPr>
        <p:txBody>
          <a:bodyPr wrap="square" lIns="56964" tIns="6164" rIns="56964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1200" y="2557661"/>
            <a:ext cx="83718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findByEmail → bcrypt.compare → jwt.sign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297289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121422"/>
            <a:ext cx="431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3106241"/>
            <a:ext cx="1651000" cy="314920"/>
          </a:xfrm>
          <a:prstGeom prst="roundRect">
            <a:avLst>
              <a:gd name="adj" fmla="val 48393"/>
            </a:avLst>
          </a:prstGeom>
          <a:solidFill>
            <a:srgbClr val="4A5163"/>
          </a:solidFill>
          <a:ln/>
        </p:spPr>
        <p:txBody>
          <a:bodyPr wrap="square" lIns="56964" tIns="6164" rIns="56964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API → cliente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1200" y="3139281"/>
            <a:ext cx="83718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 { token, user } · cliente guarda o token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55451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703042"/>
            <a:ext cx="431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97000" y="3687862"/>
            <a:ext cx="1651000" cy="314920"/>
          </a:xfrm>
          <a:prstGeom prst="roundRect">
            <a:avLst>
              <a:gd name="adj" fmla="val 48393"/>
            </a:avLst>
          </a:prstGeom>
          <a:solidFill>
            <a:srgbClr val="3D6FB8"/>
          </a:solidFill>
          <a:ln/>
        </p:spPr>
        <p:txBody>
          <a:bodyPr wrap="square" lIns="56964" tIns="6164" rIns="56964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cliente →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51200" y="3720902"/>
            <a:ext cx="83718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/me · Authorization: Bearer &lt;token&gt;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13613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471775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284663"/>
            <a:ext cx="431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" y="4269482"/>
            <a:ext cx="1651000" cy="314920"/>
          </a:xfrm>
          <a:prstGeom prst="roundRect">
            <a:avLst>
              <a:gd name="adj" fmla="val 48393"/>
            </a:avLst>
          </a:prstGeom>
          <a:solidFill>
            <a:srgbClr val="F6C9A2"/>
          </a:solidFill>
          <a:ln/>
        </p:spPr>
        <p:txBody>
          <a:bodyPr wrap="square" lIns="56964" tIns="6164" rIns="56964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51200" y="4302522"/>
            <a:ext cx="83718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jwt.verify → req.user → controller → 200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SERVICES/AUTH.SERVICE.JS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login em 15 linhas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6747173" cy="3720802"/>
          </a:xfrm>
          <a:prstGeom prst="roundRect">
            <a:avLst>
              <a:gd name="adj" fmla="val 2731"/>
            </a:avLst>
          </a:prstGeom>
          <a:solidFill>
            <a:srgbClr val="1B2233"/>
          </a:solidFill>
          <a:ln/>
        </p:spPr>
        <p:txBody>
          <a:bodyPr wrap="square" lIns="224242" tIns="173442" rIns="37067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jwt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'jsonwebtoken';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login({ email, password })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 =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userRepository.findByEmail(email);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ok = user &amp;&amp;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(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bcrypt.compare(password, user.passwordHash));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(!ok)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UnauthorizedError('Credenciais inválidas');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token = jwt.sign(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 sub: String(user.id), role: user.role },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process.env.JWT_SECRET,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 expiresIn: process.env.JWT_EXPIRES_IN ?? '1h' 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token, user: UserMapper.toResponse(user) 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3973" y="2736552"/>
            <a:ext cx="36721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mensagem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para e-mail inexistente e senha errada: não entregue quais e-mails existem.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3973" y="371445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mínimo: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id e papel. Nada de senha ou e-mail.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3973" y="4425652"/>
            <a:ext cx="36721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Segredo e validade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vêm do .env.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 CONTRATO DO LOGIN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vai e o que volta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53108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F6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 · POST /auth/login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186781"/>
            <a:ext cx="5156200" cy="2320925"/>
          </a:xfrm>
          <a:prstGeom prst="roundRect">
            <a:avLst>
              <a:gd name="adj" fmla="val 4378"/>
            </a:avLst>
          </a:prstGeom>
          <a:solidFill>
            <a:srgbClr val="1B2233"/>
          </a:solidFill>
          <a:ln/>
        </p:spPr>
        <p:txBody>
          <a:bodyPr wrap="square" lIns="224242" tIns="173442" rIns="84796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"token"</a:t>
            </a: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"eyJhbGciOi…",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"user"</a:t>
            </a: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"id": 42,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"name": "Ana",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"email": "ana@email.com"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23000" y="1854101"/>
            <a:ext cx="53108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6F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Próximas requisições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23000" y="2186781"/>
            <a:ext cx="5156200" cy="885031"/>
          </a:xfrm>
          <a:prstGeom prst="roundRect">
            <a:avLst>
              <a:gd name="adj" fmla="val 11480"/>
            </a:avLst>
          </a:prstGeom>
          <a:solidFill>
            <a:srgbClr val="1B2233"/>
          </a:solidFill>
          <a:ln/>
        </p:spPr>
        <p:txBody>
          <a:bodyPr wrap="square" lIns="224242" tIns="173442" rIns="84796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 /me HTTP/1.1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Authorization</a:t>
            </a: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Bearer eyJhbGciOi…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23000" y="3173413"/>
            <a:ext cx="53108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E2F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401 · credenciais erradas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23000" y="3506093"/>
            <a:ext cx="5156200" cy="885031"/>
          </a:xfrm>
          <a:prstGeom prst="roundRect">
            <a:avLst>
              <a:gd name="adj" fmla="val 11480"/>
            </a:avLst>
          </a:prstGeom>
          <a:solidFill>
            <a:srgbClr val="1B2233"/>
          </a:solidFill>
          <a:ln/>
        </p:spPr>
        <p:txBody>
          <a:bodyPr wrap="square" lIns="224242" tIns="173442" rIns="84796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"error": "UNAUTHORIZED",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"message": "Credenciais inválidas" 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Protegendo rotas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Middleware authenticate, authorize por papel e o quiz 401 x 403 · 25 min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MIDDLEWARES/AUTHENTICATE.JS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porteiro de todas as rotas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6747173" cy="3941763"/>
          </a:xfrm>
          <a:prstGeom prst="roundRect">
            <a:avLst>
              <a:gd name="adj" fmla="val 2578"/>
            </a:avLst>
          </a:prstGeom>
          <a:solidFill>
            <a:srgbClr val="1B2233"/>
          </a:solidFill>
          <a:ln/>
        </p:spPr>
        <p:txBody>
          <a:bodyPr wrap="square" lIns="224242" tIns="173442" rIns="37067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export function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authenticate(req, res, next)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[scheme, token]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(req.headers.authorization ?? '').split(' ');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(scheme !== 'Bearer' || !token)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UnauthorizedError('Token ausente');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payload;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try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payload = jwt.verify(token, process.env.JWT_SECRET);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catch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UnauthorizedError('Token inválido ou expirado');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req.user = { id: payload.sub, role: payload.role };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next();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3973" y="284708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confere assinatura e exp de uma vez: qualquer falha cai no catch.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3973" y="355828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req.user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fica disponível para todo controller depois dele.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3973" y="4269482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next() fora do try: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erro do controller não pode virar 401.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MIDDLEWARES/AUTHORIZE.JS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tipos de autorização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531088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papel · no middleware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255341"/>
            <a:ext cx="5156200" cy="1732161"/>
          </a:xfrm>
          <a:prstGeom prst="roundRect">
            <a:avLst>
              <a:gd name="adj" fmla="val 5866"/>
            </a:avLst>
          </a:prstGeom>
          <a:solidFill>
            <a:srgbClr val="1B2233"/>
          </a:solidFill>
          <a:ln/>
        </p:spPr>
        <p:txBody>
          <a:bodyPr wrap="square" lIns="224242" tIns="173442" rIns="84796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export 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authorize 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(...roles) =&gt; (req, res, next) =&gt;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(!roles.includes(req.user.role))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ForbiddenError();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next();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4114502"/>
            <a:ext cx="53108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“Só admin apaga usuário.”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3000" y="1854101"/>
            <a:ext cx="531088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dono · no service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3000" y="2255341"/>
            <a:ext cx="5156200" cy="1732161"/>
          </a:xfrm>
          <a:prstGeom prst="roundRect">
            <a:avLst>
              <a:gd name="adj" fmla="val 5866"/>
            </a:avLst>
          </a:prstGeom>
          <a:solidFill>
            <a:srgbClr val="1B2233"/>
          </a:solidFill>
          <a:ln/>
        </p:spPr>
        <p:txBody>
          <a:bodyPr wrap="square" lIns="224242" tIns="173442" rIns="84796" bIns="1480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update(id, dto, currentUser)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isOwner = String(id) ===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currentUser.id;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(!isOwner &amp;&amp; currentUser.role !== 'admin')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ForbiddenError();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23000" y="4114502"/>
            <a:ext cx="53108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“Cada um edita o próprio perfil.”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ROUTES/INDEX.JS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Middlewares em fila, da esquerda para a direita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101"/>
            <a:ext cx="10566400" cy="3301802"/>
          </a:xfrm>
          <a:prstGeom prst="roundRect">
            <a:avLst>
              <a:gd name="adj" fmla="val 3077"/>
            </a:avLst>
          </a:prstGeom>
          <a:solidFill>
            <a:srgbClr val="1B2233"/>
          </a:solidFill>
          <a:ln/>
        </p:spPr>
        <p:txBody>
          <a:bodyPr wrap="square" lIns="275042" tIns="198842" rIns="0" bIns="1734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públicas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router.post('/auth/register', </a:t>
            </a:r>
            <a:r>
              <a:rPr lang="en-US" sz="1400" dirty="0">
                <a:solidFill>
                  <a:srgbClr val="9BD0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validate(RegisterDTO)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auth.register);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router.post('/auth/login', </a:t>
            </a:r>
            <a:r>
              <a:rPr lang="en-US" sz="1400" dirty="0">
                <a:solidFill>
                  <a:srgbClr val="9BD0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validate(LoginDTO)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auth.login);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precisa estar logado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router.get('/me', </a:t>
            </a: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authenticate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users.me);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router.patch('/users/:id', </a:t>
            </a: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authenticate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400" dirty="0">
                <a:solidFill>
                  <a:srgbClr val="9BD0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validate(UpdateUserDTO)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users.update);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A93A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precisa ser admin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router.delete('/users/:id', </a:t>
            </a: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authenticate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400" dirty="0">
                <a:solidFill>
                  <a:srgbClr val="8DB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authorize('admin')</a:t>
            </a:r>
            <a:r>
              <a:rPr lang="en-US" sz="1400" dirty="0">
                <a:solidFill>
                  <a:srgbClr val="E6E1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users.remove);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8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31A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EXERCÍCIO RÁPIDO · 8 MIN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401, 403 ou outro?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9961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GET /me sem header Authorization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0" y="1909961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Token com o payload editado à mão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48900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Token emitido ontem, expiresIn de 1h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248900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Ana tenta editar o perfil do Bruno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06804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Usuário comum chama DELETE /users/7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0" y="306804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Cadastro com e-mail que já existe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47083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Login com a senha errada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3647083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  <p:txBody>
          <a:bodyPr wrap="square" lIns="180882" tIns="130082" rIns="34578" bIns="10468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Admin apaga um usuário com sucesso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RESPOSTAS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é x o que pode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965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03301"/>
            <a:ext cx="0" cy="3638748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1892201"/>
          <a:ext cx="10248900" cy="3473648"/>
        </p:xfrm>
        <a:graphic>
          <a:graphicData uri="http://schemas.openxmlformats.org/drawingml/2006/table">
            <a:tbl>
              <a:tblPr/>
              <a:tblGrid>
                <a:gridCol w="614934"/>
                <a:gridCol w="4509516"/>
                <a:gridCol w="1434846"/>
                <a:gridCol w="3689604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Situação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 quê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 header Authorization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 sabemos quem é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Token expirado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Prova vencida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Usuário comum apaga usuário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Sabemos quem é; não pode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Senha errada no login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Identidade não provada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Payload editado à mão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Assinatura não bate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 edita o perfil do Bruno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 é a dona do recurso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E-mail já cadastrado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Conflito, não é auth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 apaga com sucesso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Sucesso sem corpo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o front guarda o token e as boas práticas do dia a dia · 15 min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 LADO DO FRONT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guardar o token?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43500" cy="2359521"/>
          </a:xfrm>
          <a:prstGeom prst="roundRect">
            <a:avLst>
              <a:gd name="adj" fmla="val 403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20801"/>
            <a:ext cx="4761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OPÇÃO SIMPLES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246112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localStorage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500" y="2923381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r>
              <a:rPr lang="en-US" sz="1500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Fácil: o front lê e manda no header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9500" y="3317081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E2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r>
              <a:rPr lang="en-US" sz="1500" dirty="0">
                <a:solidFill>
                  <a:srgbClr val="9E2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Qualquer script na página lê também (XSS)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9500" y="371078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 para trabalhos e protótipos.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9350" y="1860451"/>
            <a:ext cx="5143500" cy="2359521"/>
          </a:xfrm>
          <a:prstGeom prst="roundRect">
            <a:avLst>
              <a:gd name="adj" fmla="val 403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9700" y="2120801"/>
            <a:ext cx="4761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OPÇÃO ROBUSTA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89700" y="246112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Cookie httpOnly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89700" y="2923381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r>
              <a:rPr lang="en-US" sz="1500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JavaScript não consegue ler o cookie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9700" y="3317081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E2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r>
              <a:rPr lang="en-US" sz="1500" dirty="0">
                <a:solidFill>
                  <a:srgbClr val="9E2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Exige cuidar de CSRF (SameSite) e CORS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9700" y="371078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padrão em produção.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 LADO DA API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Seis cuidados que não custam nada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3407767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5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207000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700" y="2451001"/>
            <a:ext cx="30783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Segredo forte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8700" y="2770981"/>
            <a:ext cx="30783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Longo e aleatório, no .env, fora do Git.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2017" y="1860451"/>
            <a:ext cx="3407866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01567" y="207000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1567" y="2451001"/>
            <a:ext cx="307842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Expiração curta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01567" y="2770981"/>
            <a:ext cx="30784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Minutos ou poucas horas, nunca “para sempre”.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64984" y="1860451"/>
            <a:ext cx="3407866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4534" y="207000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4534" y="2451001"/>
            <a:ext cx="307842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genérico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74534" y="2770981"/>
            <a:ext cx="30784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“Credenciais inválidas”, sem dizer qual campo errou.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9150" y="3607792"/>
            <a:ext cx="3407767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7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8700" y="3817342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8700" y="4198342"/>
            <a:ext cx="30783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 no login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28700" y="4518323"/>
            <a:ext cx="30783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Poucas tentativas por minuto contra força bruta.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2017" y="3607792"/>
            <a:ext cx="3407866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21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01567" y="3817342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01567" y="4198342"/>
            <a:ext cx="307842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HTTPS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01567" y="4518323"/>
            <a:ext cx="30784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em HTTP puro viaja legível na rede.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64984" y="3607792"/>
            <a:ext cx="3407866" cy="1582241"/>
          </a:xfrm>
          <a:prstGeom prst="roundRect">
            <a:avLst>
              <a:gd name="adj" fmla="val 60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25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74534" y="3817342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74534" y="4198342"/>
            <a:ext cx="307842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Papel no servidor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74534" y="4518323"/>
            <a:ext cx="30784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cadastro nunca aceita role vindo do body.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Prática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ao vivo e autenticação no CRUD da turma · 20 min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DEMO · 5 MIN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Roteiro da demo no requests.http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965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03301"/>
            <a:ext cx="0" cy="339854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1892201"/>
          <a:ext cx="10248900" cy="3233440"/>
        </p:xfrm>
        <a:graphic>
          <a:graphicData uri="http://schemas.openxmlformats.org/drawingml/2006/table">
            <a:tbl>
              <a:tblPr/>
              <a:tblGrid>
                <a:gridCol w="614934"/>
                <a:gridCol w="5944362"/>
                <a:gridCol w="368960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#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Requisição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A65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Esperado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POST /auth/register (Ana)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201, sem passwordHash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POST /auth/login (senha errada)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401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POST /auth/login (senha certa)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200 + token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GET /me sem token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401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GET /me com Bearer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200, dados da Ana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6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Token editado no jwt.io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401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7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DELETE /users/1 como Ana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403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8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DELETE /users/1 como admin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204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EXERCÍCIO · 15 MIN + TAREFA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Coloque autenticação no CRUD da turma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81600" cy="1531342"/>
          </a:xfrm>
          <a:prstGeom prst="roundRect">
            <a:avLst>
              <a:gd name="adj" fmla="val 62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07000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34682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Cadastro com hash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4100" y="2684562"/>
            <a:ext cx="485305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 /auth/register com bcrypt e coluna role (default user).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1250" y="1860451"/>
            <a:ext cx="5181600" cy="1531342"/>
          </a:xfrm>
          <a:prstGeom prst="roundRect">
            <a:avLst>
              <a:gd name="adj" fmla="val 62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200" y="207000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6200" y="234682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com JWT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6200" y="2684562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 /auth/login devolve { token, user }; erro é 401.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3582293"/>
            <a:ext cx="5181600" cy="1282502"/>
          </a:xfrm>
          <a:prstGeom prst="roundRect">
            <a:avLst>
              <a:gd name="adj" fmla="val 742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4100" y="3791843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4100" y="4068663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authenticate + /me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4100" y="4406404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Proteja todas as rotas de /users e crie GET /me.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1250" y="3582293"/>
            <a:ext cx="5181600" cy="1282502"/>
          </a:xfrm>
          <a:prstGeom prst="roundRect">
            <a:avLst>
              <a:gd name="adj" fmla="val 742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3791843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6200" y="4068663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authorize + dono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6200" y="4406404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só admin; PATCH só o próprio usuário ou admin.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17594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Terminou?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Desafios: token em cookie httpOnly, rate limit no login, refresh token com logout de verdade.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PARA LEVAR PARA TODO PROJETO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Checklist de uma API autenticada</a:t>
            </a:r>
            <a:endParaRPr lang="en-US" sz="3200" dirty="0"/>
          </a:p>
        </p:txBody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54101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5400" y="1866205"/>
            <a:ext cx="699289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 só como hash bcrypt; o mapper nunca devolve o hash</a:t>
            </a:r>
            <a:endParaRPr lang="en-US" sz="1700" dirty="0"/>
          </a:p>
        </p:txBody>
      </p:sp>
      <p:pic>
        <p:nvPicPr>
          <p:cNvPr id="6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336701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2348805"/>
            <a:ext cx="7695247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JWT_SECRET no .env, fora do Git, com .env.example no repositório</a:t>
            </a:r>
            <a:endParaRPr lang="en-US" sz="1700" dirty="0"/>
          </a:p>
        </p:txBody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819301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5400" y="2831405"/>
            <a:ext cx="529482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Payload mínimo (sub e role) e expiração curta</a:t>
            </a:r>
            <a:endParaRPr lang="en-US" sz="1700" dirty="0"/>
          </a:p>
        </p:txBody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301901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95400" y="3314005"/>
            <a:ext cx="485655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rota privada passa pelo authenticate</a:t>
            </a:r>
            <a:endParaRPr lang="en-US" sz="1700" dirty="0"/>
          </a:p>
        </p:txBody>
      </p:sp>
      <p:pic>
        <p:nvPicPr>
          <p:cNvPr id="12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784501"/>
            <a:ext cx="304800" cy="3048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95400" y="3796605"/>
            <a:ext cx="569952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Papel no middleware, dono do recurso no service</a:t>
            </a:r>
            <a:endParaRPr lang="en-US" sz="1700" dirty="0"/>
          </a:p>
        </p:txBody>
      </p:sp>
      <p:pic>
        <p:nvPicPr>
          <p:cNvPr id="14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4267101"/>
            <a:ext cx="304800" cy="304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95400" y="4279205"/>
            <a:ext cx="6095643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401 para “quem é você?”, 403 para “você não pode”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9870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bcrypt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guarda a senha sem guardar a senha.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01496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a prova de </a:t>
            </a:r>
            <a:r>
              <a:rPr lang="en-US" sz="28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está chamando.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37312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Middlewares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decidem o que cada um </a:t>
            </a:r>
            <a:r>
              <a:rPr lang="en-US" sz="28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5430540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Dúvidas?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enticação com JWT no Express">
  <a:themeElements>
    <a:clrScheme name="Autenticação com JWT no Express">
      <a:dk1>
        <a:srgbClr val="131A2A"/>
      </a:dk1>
      <a:lt1>
        <a:srgbClr val="F6F5F1"/>
      </a:lt1>
      <a:dk2>
        <a:srgbClr val="4C515C"/>
      </a:dk2>
      <a:lt2>
        <a:srgbClr val="DFDFDD"/>
      </a:lt2>
      <a:accent1>
        <a:srgbClr val="B85A1C"/>
      </a:accent1>
      <a:accent2>
        <a:srgbClr val="F6C9A2"/>
      </a:accent2>
      <a:accent3>
        <a:srgbClr val="F2A65A"/>
      </a:accent3>
      <a:accent4>
        <a:srgbClr val="9E2F24"/>
      </a:accent4>
      <a:accent5>
        <a:srgbClr val="3D6FB8"/>
      </a:accent5>
      <a:accent6>
        <a:srgbClr val="2F6B2A"/>
      </a:accent6>
      <a:hlink>
        <a:srgbClr val="0563C1"/>
      </a:hlink>
      <a:folHlink>
        <a:srgbClr val="954F72"/>
      </a:folHlink>
    </a:clrScheme>
    <a:fontScheme name="Autenticação com JWT no Expres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Autenticação com JWT no Express</dc:title>
  <dc:subject/>
  <dc:creator/>
  <cp:lastModifiedBy/>
  <cp:revision>1</cp:revision>
  <dcterms:created xsi:type="dcterms:W3CDTF">2026-10-19T21:51:50Z</dcterms:created>
  <dcterms:modified xsi:type="dcterms:W3CDTF">2026-10-19T21:51:50Z</dcterms:modified>
</cp:coreProperties>
</file>