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Duração total: 2h. Continuação direta das aulas de MVC e ORM, usando o mesmo CRUD de usuários. Material de apoio: projeto aula-dtos-express (pastas antes/ e depois/, requests.http e EXERCICIO.md). Antes de começar: deixe os dois servidores rodando (npm run antes na porta 3000 e npm run depois na 3001) e o requests.http aberto no VS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roteiro rapidamente. A ideia central da aula: tudo hoje gira em torno do contrato da API (o que entra, o que sai e o que cada resposta significa). Os tempos são guias; se a discussão de status codes render, dá pra encurtar a parte de erros e deixar o handler como leitura no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Pergunte à turma: no CRUD que fizemos, o que o POST /users devolve? Quase sempre a resposta é "o objeto que o ORM retornou". Guarde essa resposta: é o gancho para o próximo bloco.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1 (0:05 a 0:45): DTOs, mappers e o caminho do JSON de uma ponta a outra. Objetivo: a turma sair convencida de que nunca deve devolver a entidade do ORM direto.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Frase-âncora da aula. O front-end, o app mobile e outras APIs só enxergam o formato dos dados (DTO) e o significado da resposta (status code). Se qualquer um dos dois muda sem aviso, o cliente quebra.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rode a requisição 1 do requests.http na porta 3000. Pergunte: quantos problemas vocês enxergam aqui? Deixe a turma responder antes de passar para o próximo slide. Respostas esperadas: senha voltando em texto puro, virei admin, status 200 em vez de 201, nome "x" e senha "123" passaram sem validação.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mass assignment é o mais perigoso e o menos óbvio: conte que foi assim que um pesquisador ganhou acesso de admin a repositórios do GitHub em 2012 (caso do Rails). O acoplamento é o argumento de manutenção: o banco é detalhe interno, o contrato da API não pode mudar toda vez que o schema muda. O último conecta com a aula de ORM (include/populate de relacionamentos).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Java/C# o DTO costuma ser uma classe. Em JavaScript não precisamos disso: um schema (Zod) resolve a entrada e uma função simples resolve a saída. O importante é o conceito: a entidade nunca atravessa a fronteira HTTP. Destaque que podem existir vários DTOs para o mesmo recurso (Create, Update, Response, ListItem...).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Ponto-chave: é uma lista branca. Evite a abordagem "delete user.password" (lista negra), porque qualquer campo novo adicionado à tabela passa a vazar automaticamente. Transição: essa função tem nome, é um mapper. Próximos slides aprofundam. Com o ORM real, lembre que o objeto retornado pode ser uma instância (Sequelize) com métodos; o mapper também resolve isso, porque devolve um objeto literal simples.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DTO é o FORMATO; o mapper é a CONVERSÃO. Mostre que o toUserResponseDTO do slide anterior já era um mapper. Direções: entrada → entidade (o que vai para o banco, por exemplo trocando password por passwordHash) e entidade → saída (o que volta para o cliente). Um mesmo recurso costuma ter vários DTOs de saída: a listagem precisa de menos campos que a tela de detalhe. Pergunte: onde o mapper deve ser chamado? Resposta comum: no controller (saída) e no service (entrada para o banco); o importante é que o repositório e o HTTP não se misturem.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PostMapper.toSummary devolveria só { id, title }, sem o author, e é isso que corta a referência circular que aparece quando o ORM carrega relacionamentos (include no Sequelize/Prisma, populate no Mongoose). Uso típico: GET /users usa toListItem, GET /users/:id usa toDetail, POST devolve toResponse. O toPersistence roda no service, depois de gerar o hash da senha. Pergunte: por que não um toResponse com um parâmetro "incluirPosts"? Porque formatos diferentes merecem funções diferentes; flags acabam virando um if gigante.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Recomendação para a turma: começar com função manual. Biblioteca de mapeamento automático economiza digitação, mas esconde o que sai na resposta, e aí o risco de vazar campo volta. O Zod é uma boa segunda opção porque a turma já vai usá-lo na entrada: z.object remove chaves desconhecidas por padrão, então um schema de resposta funciona como lista branca. O class-transformer depende de decorators e do pacote reflect-metadata, por isso aparece mais em projetos TypeScript/NestJS. O @automapper/core é mantido por uma pessoa só, em ritmo mais lento. Curiosidade: desde 2025 o AutoMapper do .NET passou a ter licença comercial.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Slide-mapa dos próximos quatro. Serializar = transformar objeto em texto (JSON.stringify); desserializar = texto em objeto (JSON.parse). Tanto o res.json() do Express quanto o response.json() do fetch fazem isso por baixo dos panos. Pergunta para a turma: "a Date que sai do banco chega como Date no front?" Deixe responderem e responda no próximo slide (não: chega como string).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essas conversões foram testadas no Node 22. O res.json() do Express chama JSON.stringify e define o header Content-Type: application/json; charset=utf-8. A última linha explica por que res.json(instanciaDoSequelize) "funciona": a instância tem um método toJSON() que devolve todos os atributos, inclusive a senha. BigInt aparece de verdade quando o banco usa colunas BIGINT (o Prisma devolve BigInt nesses casos).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isso ao vivo na aba Network do DevTools (ou na aba de resposta crua do Postman/Insomnia). Pontos: (1) status line, headers e corpo; (2) o Content-Type avisa o outro lado que o corpo é JSON; (3) o corpo é só texto, sem espaços nem tipos, e é exatamente o UserResponseDTO serializado; (4) a senha foi no request (por isso HTTPS em produção), mas não volta no response, graças ao mapper. O status code está na primeira linha: é literalmente a primeira coisa que o cliente lê, gancho para o bloco 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a turma vê o contrato do lado de quem consome. O fetch não lança erro para 4xx e 5xx: só falha em erro de rede. Quem decide se deu certo é o res.ok, que olha o status code. Por isso o bloco 03 importa tanto. Com axios o comportamento é diferente: ele já faz o JSON.stringify/parse e lança exceção para status fora de 2xx.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Comportamentos conferidos no Express 5. O limite de 100 kb é o padrão e pode ser mudado com express.json({ limit: '1mb' }). O 400 de JSON malformado já está tratado no errorHandler do projeto (INVALID_JSON), vamos ver no bloco 04. Transição: o express.json() garante que é um objeto; o Zod garante que é o objeto CERTO.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2 (0:45 a 1:00). Como o express.json() já foi visto no fim do bloco 1, dá pra ir direto ao Zod. Antes do slide seguinte: npm install zod no projeto da turma (ou já deixe instalado).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arquivo completo no projeto (depois/src/dtos/user.dto.js). Pontos para comentar: (1) o schema é a documentação viva do que a rota aceita; (2) "role" não existe no schema, logo não entra; (3) o UpdateUserDTO não tem password: troca de senha é outra operação, com outro DTO (vira desafio do exercício). Usamos Zod 4, onde z.email() é a forma recomendada (z.string().email() ainda funciona, mas está depreciado).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safeParse (não lança exceção, devolve { success, data, error }) para ter controle do formato do erro. O dado que vale daqui pra frente é result.data, já limpo, e não o req.body original. Demo: rode a requisição com "role": "admin" na porta 3001 e mostre que o role não aparece.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Versão simplificada no slide; no projeto ele também guarda o resultado em req.dto, porque no Express 5 o req.query é somente leitura. O ValidationError ainda não foi apresentado: diga que ele vem no bloco 4 e que por enquanto basta saber que "lançar" é suficiente, porque alguém lá na frente vai transformar isso em resposta HTTP.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UserIdParamDTO: z.coerce.number().int().positive(). Pergunte o que acontecia no projeto antigo com GET /users/abc (dependendo do ORM, erro 500 ou consulta inútil no banco). Isso já prepara a discussão de status code: /users/abc é 400, /users/999 é 404.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3 (1:00 a 1:25), o mais longo e o mais interativo. Deixe a turma errar e discutir no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 distinção 4xx/5xx importa na prática: ferramentas de monitoramento costumam disparar alerta para 5xx (bug nosso) e não para 4xx (uso incorreto). Um 500 para "e-mail já cadastrado" acorda o plantonista à toa. 3xx aparece mais em sites do que em APIs 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precisa decorar todos os códigos existentes (são dezenas); esses dez cobrem a imensa maioria das APIs. Referência completa para mandar à turma: MDN, "HTTP response status codes". Sobre 400 vs 422: não existe consenso; o importante é o time escolher um e ser consistente. No nosso projeto usamos 400 para validação.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401 tem nome enganoso ("Unauthorized"), mas significa não autenticado. Analogia: 401 é o segurança do prédio pedindo seu crachá; 403 é o crachá funcionando, mas não abrindo a sala da diretoria. Curiosidade: algumas APIs (como o GitHub) devolvem 404 em vez de 403 para recursos privados, para não revelar que eles existem.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estão no antes/server.js (PROBLEMA 5, 6 e 7). Rode as requisições 3 e 4 do requests.http na porta 3000 para mostrar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Dinâmica sugerida: cada aluno escreve os 8 códigos num papel ou no chat, 3 minutos. Depois peça respostas em voz alta para os itens com divergência (normalmente 3, 4 e 5). Respostas no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Discussões que costumam surgir: (3) 400 ou 422, ambos aceitáveis, o importante é consistência; (6) 503 Service Unavailable é mais preciso quando uma dependência está fora e o cliente pode tentar mais tarde, mas 500 é o mais comum; (5) alguns defendem 404 para não revelar que o usuário existe, argumento válido de segurança.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4 (1:25 a 1:40). Se o tempo apertar, mostre apperror e handler rapidamente e deixe o detalhe como leitura no projeto. Aqui os três assuntos se juntam: o erro vira um DTO de saída com formato fixo, e cada tipo de erro carrega seu status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ErrorResponseDTO. O front consegue escrever um único interceptor (axios/fetch) que trata todos os erros da API. Para quem quiser se aprofundar: existe um padrão oficial para isso, a RFC 9457 "Problem Details for HTTP APIs" (application/problem+json), com campos type, title, status, detail e instance. Nosso formato segue a mesma ideia de forma simplificada.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user.service.js do projeto: o create lança ConflictError com code EMAIL_IN_USE quando o e-mail já existe. Vantagem: o service fica testável sem Express, e a decisão "qual status" fica centralizada na própria classe de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versão completa no projeto também converte JSON malformado (err.type === 'entity.parse.failed', lançado pelo express.json()) em 400 INVALID_JSON. Rode a requisição de JSON malformado na porta 3001 para mostrar. Sem o handler, o Express devolveria uma página HTML de erro, que quebra o parse no 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Atenção se a turma estiver no Express 4: lá, um erro lançado dentro de função async NÃO chega ao error handler (a requisição fica pendurada). Soluções: atualizar para o Express 5 (npm install express@5), usar o pacote express-async-errors, ou envolver cada controller num try/catch com next(err). Confira a versão no package.json da turma antes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esse slide para amarrar a aula: a entrada passa pelo DTO de entrada (validate), a saída passa pelo DTO de saída (mapper), e qualquer erro, de qualquer camada, vira uma resposta com status correto e formato padronizado em um único lugar.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5 (1:40 a 2:00). Cerca de 5 minutos de demo e 15 de exercício (o que faltar vira tarefa). Circule pela sala; os erros mais comuns são esquecer a ordem dos middlewares no app.js e continuar usando o req.body original em vez do dado validado.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Rode lado a lado as requisições do requests.http. Dica: deixe a turma prever o resultado de cada uma antes de executar. Todos esses resultados foram conferidos rodando 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EXERCICIO.md do projeto tem os checklists de cada parte e os desafios detalhados. Quem não terminar em aula pode concluir como tarefa. Se a turma usa Sequelize, o erro de unique é SequelizeUniqueConstraintError; no Prisma, o código P2002.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Sugestão: peça que cada aluno revise a própria entrega com esse checklist. É um bom critério de correção para os trabalhos também.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retomando a frase do início: quem consome a API só vê o JSON e o status code. Hoje eles aprenderam a desenhar os dois de propósito.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6" Type="http://schemas.openxmlformats.org/officeDocument/2006/relationships/image" Target="../media/image-3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AULA 3 · BACK-END COM EXPRESS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4229100"/>
            <a:ext cx="10883392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B9C1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DTOs, validação, status codes e erros padronizados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262890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contrato</a:t>
            </a:r>
            <a:endParaRPr lang="en-US" sz="6000" dirty="0"/>
          </a:p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 sua API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ROTEIRO · 2 HORAS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vamos fazer hoje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60451"/>
            <a:ext cx="10566400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011561"/>
            <a:ext cx="939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A71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0:00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006600" y="1993801"/>
            <a:ext cx="879043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Abertura e recap de MVC + ORM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845800" y="2020491"/>
            <a:ext cx="5842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A71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2800" y="2429371"/>
            <a:ext cx="10566400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2580481"/>
            <a:ext cx="939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0:05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006600" y="2562721"/>
            <a:ext cx="868047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 · DTOs, Mappers e o caminho do JSON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739041" y="2589411"/>
            <a:ext cx="69095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A71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 min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" y="2998291"/>
            <a:ext cx="10566400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800" y="3149402"/>
            <a:ext cx="939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0:45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006600" y="3131641"/>
            <a:ext cx="868047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Validação com Zod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739041" y="3158331"/>
            <a:ext cx="69095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A71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min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800" y="3567212"/>
            <a:ext cx="10566400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3718322"/>
            <a:ext cx="939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1:00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006600" y="3700562"/>
            <a:ext cx="868047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Status codes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739041" y="3727252"/>
            <a:ext cx="69095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A71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 min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2800" y="4136132"/>
            <a:ext cx="10566400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800" y="4287242"/>
            <a:ext cx="939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1:25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006600" y="4269482"/>
            <a:ext cx="868047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· Erros padronizados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739041" y="4296172"/>
            <a:ext cx="69095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A71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min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2800" y="4705052"/>
            <a:ext cx="10566400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2800" y="5273973"/>
            <a:ext cx="10566400" cy="0"/>
          </a:xfrm>
          <a:prstGeom prst="line">
            <a:avLst/>
          </a:prstGeom>
          <a:noFill/>
          <a:ln w="12700">
            <a:solidFill>
              <a:srgbClr val="DDD8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2800" y="4856163"/>
            <a:ext cx="939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1:40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006600" y="4838402"/>
            <a:ext cx="868047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 · Prática: refatorar o CRUD da turma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0739041" y="4865092"/>
            <a:ext cx="69095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A71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min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Onde paramos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940149"/>
            <a:ext cx="2171700" cy="988020"/>
          </a:xfrm>
          <a:prstGeom prst="roundRect">
            <a:avLst>
              <a:gd name="adj" fmla="val 9640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" y="3149699"/>
            <a:ext cx="18051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Express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8700" y="3413820"/>
            <a:ext cx="180517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Rota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149600" y="3220839"/>
            <a:ext cx="3556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85A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13150" y="2940149"/>
            <a:ext cx="2171700" cy="988020"/>
          </a:xfrm>
          <a:prstGeom prst="roundRect">
            <a:avLst>
              <a:gd name="adj" fmla="val 9640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22700" y="3149699"/>
            <a:ext cx="18051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MVC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22700" y="3413820"/>
            <a:ext cx="180517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Controller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0" y="3220839"/>
            <a:ext cx="3556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85A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7150" y="2940149"/>
            <a:ext cx="2171700" cy="988020"/>
          </a:xfrm>
          <a:prstGeom prst="roundRect">
            <a:avLst>
              <a:gd name="adj" fmla="val 9640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6700" y="3149699"/>
            <a:ext cx="18051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16700" y="3413820"/>
            <a:ext cx="180517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737600" y="3220839"/>
            <a:ext cx="3556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85A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201150" y="2940149"/>
            <a:ext cx="2171700" cy="988020"/>
          </a:xfrm>
          <a:prstGeom prst="roundRect">
            <a:avLst>
              <a:gd name="adj" fmla="val 9640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0700" y="3149699"/>
            <a:ext cx="18051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SQL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410700" y="3413820"/>
            <a:ext cx="180517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Banco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12800" y="5318919"/>
            <a:ext cx="10883392" cy="7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Já sabemos </a:t>
            </a:r>
            <a:r>
              <a:rPr lang="en-US" sz="2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organizar</a:t>
            </a:r>
            <a:r>
              <a:rPr lang="en-US" sz="22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código e </a:t>
            </a:r>
            <a:r>
              <a:rPr lang="en-US" sz="2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persistir</a:t>
            </a:r>
            <a:r>
              <a:rPr lang="en-US" sz="22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dados.</a:t>
            </a:r>
            <a:endParaRPr lang="en-US" sz="2200" dirty="0"/>
          </a:p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B85A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Mas o que exatamente entra e sai pela porta da API?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39950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800" y="335915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DTOs, Mappers e JSON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36245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9C1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Separando o que o banco guarda do que a API mostra · 40 min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402880"/>
            <a:ext cx="10883392" cy="1310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Quem consome sua API não vê o seu código.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12800" y="3992761"/>
            <a:ext cx="1088339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800" dirty="0">
                <a:solidFill>
                  <a:srgbClr val="B9C1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Vê só duas coisas: </a:t>
            </a:r>
            <a:r>
              <a:rPr lang="en-US" sz="28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JSON</a:t>
            </a:r>
            <a:r>
              <a:rPr lang="en-US" sz="2800" dirty="0">
                <a:solidFill>
                  <a:srgbClr val="B9C1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</a:t>
            </a:r>
            <a:r>
              <a:rPr lang="en-US" sz="28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status code</a:t>
            </a:r>
            <a:r>
              <a:rPr lang="en-US" sz="2800" dirty="0">
                <a:solidFill>
                  <a:srgbClr val="B9C1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ANTES/SERVER.JS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Funciona. Mas olha o que volta.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101"/>
            <a:ext cx="5410200" cy="4191099"/>
          </a:xfrm>
          <a:prstGeom prst="roundRect">
            <a:avLst>
              <a:gd name="adj" fmla="val 2424"/>
            </a:avLst>
          </a:prstGeom>
          <a:solidFill>
            <a:srgbClr val="1B2233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108101"/>
            <a:ext cx="5049266" cy="2501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app.post(</a:t>
            </a:r>
            <a:r>
              <a:rPr lang="en-US" sz="130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'/users'</a:t>
            </a: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(req, res) =&gt;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30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user =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id: nextId++,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30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...req.body</a:t>
            </a: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role: req.body.role || </a:t>
            </a:r>
            <a:r>
              <a:rPr lang="en-US" sz="130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'user'</a:t>
            </a: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createdAt: </a:t>
            </a:r>
            <a:r>
              <a:rPr lang="en-US" sz="130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</a:t>
            </a: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Date(),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};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users.push(user);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30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res.json(user)</a:t>
            </a: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});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83350" y="1860451"/>
            <a:ext cx="4889500" cy="1054100"/>
          </a:xfrm>
          <a:prstGeom prst="roundRect">
            <a:avLst>
              <a:gd name="adj" fmla="val 9036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92900" y="2044601"/>
            <a:ext cx="460451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1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 /users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1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 "name": "x", "password": "123",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1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"role": "admin" 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77000" y="3047901"/>
            <a:ext cx="4902200" cy="2997299"/>
          </a:xfrm>
          <a:prstGeom prst="roundRect">
            <a:avLst>
              <a:gd name="adj" fmla="val 3390"/>
            </a:avLst>
          </a:prstGeom>
          <a:solidFill>
            <a:srgbClr val="1B2233"/>
          </a:solidFill>
          <a:ln/>
        </p:spPr>
      </p:sp>
      <p:sp>
        <p:nvSpPr>
          <p:cNvPr id="9" name="Text 7"/>
          <p:cNvSpPr/>
          <p:nvPr/>
        </p:nvSpPr>
        <p:spPr>
          <a:xfrm>
            <a:off x="6680200" y="3225701"/>
            <a:ext cx="4630674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E97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 200 OK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"id": 1,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"name": "x",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200" dirty="0">
                <a:solidFill>
                  <a:srgbClr val="FF8A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"password": "123",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200" dirty="0">
                <a:solidFill>
                  <a:srgbClr val="FF8A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"role": "admin",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"createdAt": "2026-09-28T..."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Devolver a entidade crua custa caro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60451"/>
            <a:ext cx="5168900" cy="1981200"/>
          </a:xfrm>
          <a:prstGeom prst="roundRect">
            <a:avLst>
              <a:gd name="adj" fmla="val 4808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095401"/>
            <a:ext cx="478764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Vaza dados sensíveis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9500" y="2476401"/>
            <a:ext cx="478764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Senha, hash, tokens e campos internos vão parar no navegador de qualquer um.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03950" y="1860451"/>
            <a:ext cx="5168900" cy="1981200"/>
          </a:xfrm>
          <a:prstGeom prst="roundRect">
            <a:avLst>
              <a:gd name="adj" fmla="val 4808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4300" y="2095401"/>
            <a:ext cx="478764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Mass assignment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64300" y="2476401"/>
            <a:ext cx="478764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cliente manda </a:t>
            </a:r>
            <a:r>
              <a:rPr lang="en-US" sz="15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"role": "admin"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no body e o servidor aceita sem perguntar.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9150" y="4057551"/>
            <a:ext cx="5168900" cy="1981299"/>
          </a:xfrm>
          <a:prstGeom prst="roundRect">
            <a:avLst>
              <a:gd name="adj" fmla="val 4807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9500" y="4292501"/>
            <a:ext cx="478764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Acoplamento com o banco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79500" y="4673501"/>
            <a:ext cx="478764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Renomeou uma coluna na migration? O front quebrou junto.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03950" y="4057551"/>
            <a:ext cx="5168900" cy="1981299"/>
          </a:xfrm>
          <a:prstGeom prst="roundRect">
            <a:avLst>
              <a:gd name="adj" fmla="val 4807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300" y="4292501"/>
            <a:ext cx="478764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Relacionamentos em cascata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64300" y="4673501"/>
            <a:ext cx="478764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→ posts → author → posts… JSON gigante ou erro de referência circular.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TRANSFER OBJECT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objeto que define o que atravessa a fronteira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3037880"/>
            <a:ext cx="1530648" cy="635000"/>
          </a:xfrm>
          <a:prstGeom prst="roundRect">
            <a:avLst>
              <a:gd name="adj" fmla="val 15000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7900" y="3222030"/>
            <a:ext cx="12131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457748" y="3177580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85A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19698" y="3055640"/>
            <a:ext cx="1879402" cy="599380"/>
          </a:xfrm>
          <a:prstGeom prst="roundRect">
            <a:avLst>
              <a:gd name="adj" fmla="val 15891"/>
            </a:avLst>
          </a:prstGeom>
          <a:solidFill>
            <a:srgbClr val="FCE9D8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8448" y="3239790"/>
            <a:ext cx="156190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7A3A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CreateUserDTO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7049" y="3177580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85A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62649" y="2910880"/>
            <a:ext cx="1866702" cy="889000"/>
          </a:xfrm>
          <a:prstGeom prst="roundRect">
            <a:avLst>
              <a:gd name="adj" fmla="val 11429"/>
            </a:avLst>
          </a:prstGeom>
          <a:solidFill>
            <a:srgbClr val="1B2233"/>
          </a:solidFill>
          <a:ln/>
        </p:spPr>
      </p:sp>
      <p:sp>
        <p:nvSpPr>
          <p:cNvPr id="11" name="Text 9"/>
          <p:cNvSpPr/>
          <p:nvPr/>
        </p:nvSpPr>
        <p:spPr>
          <a:xfrm>
            <a:off x="5315049" y="3088680"/>
            <a:ext cx="156190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 + Entidade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0951" y="3177580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85A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492901" y="3055640"/>
            <a:ext cx="1879402" cy="599380"/>
          </a:xfrm>
          <a:prstGeom prst="roundRect">
            <a:avLst>
              <a:gd name="adj" fmla="val 15891"/>
            </a:avLst>
          </a:prstGeom>
          <a:solidFill>
            <a:srgbClr val="DCE8F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51651" y="3239790"/>
            <a:ext cx="156190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4A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UserResponseDTO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480252" y="3177580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85A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842202" y="3037880"/>
            <a:ext cx="1530648" cy="635000"/>
          </a:xfrm>
          <a:prstGeom prst="roundRect">
            <a:avLst>
              <a:gd name="adj" fmla="val 15000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00952" y="3222030"/>
            <a:ext cx="12131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2800" y="5161359"/>
            <a:ext cx="528472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A3A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DTO de entrada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2800" y="5511800"/>
            <a:ext cx="528472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o cliente </a:t>
            </a:r>
            <a:r>
              <a:rPr lang="en-US" sz="15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pode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mandar. Em JS: um </a:t>
            </a:r>
            <a:r>
              <a:rPr lang="en-US" sz="15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schema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validação.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48400" y="5161359"/>
            <a:ext cx="528472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4A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DTO de saída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48400" y="5511800"/>
            <a:ext cx="52847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a API </a:t>
            </a:r>
            <a:r>
              <a:rPr lang="en-US" sz="15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devolve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Em JS: uma </a:t>
            </a:r>
            <a:r>
              <a:rPr lang="en-US" sz="15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função mapper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DTOS/USER.DTO.JS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DTO de saída: você escolhe o que sai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101"/>
            <a:ext cx="6015534" cy="2438400"/>
          </a:xfrm>
          <a:prstGeom prst="roundRect">
            <a:avLst>
              <a:gd name="adj" fmla="val 4167"/>
            </a:avLst>
          </a:prstGeom>
          <a:solidFill>
            <a:srgbClr val="1B2233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082701"/>
            <a:ext cx="5672760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</a:t>
            </a: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toUserResponseDTO(user)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30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id: user.id,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name: user.name,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email: user.email,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createdAt: user.createdAt.toISOString(),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};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2800" y="4444901"/>
            <a:ext cx="6015534" cy="1200150"/>
          </a:xfrm>
          <a:prstGeom prst="roundRect">
            <a:avLst>
              <a:gd name="adj" fmla="val 8466"/>
            </a:avLst>
          </a:prstGeom>
          <a:solidFill>
            <a:srgbClr val="1B2233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4673501"/>
            <a:ext cx="5672760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8E97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no controller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res.json(toUserResponseDTO(user));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res.json(users.map(toUserResponseDTO));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82334" y="2918420"/>
            <a:ext cx="442577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Lista branca</a:t>
            </a:r>
            <a:r>
              <a:rPr lang="en-US" sz="16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não lista negra: campo novo na tabela não aparece sozinho.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82334" y="3665141"/>
            <a:ext cx="442577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passwordHash e role</a:t>
            </a:r>
            <a:r>
              <a:rPr lang="en-US" sz="16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ficam de fora sem esforço.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82334" y="4411861"/>
            <a:ext cx="442577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Formato estável</a:t>
            </a:r>
            <a:r>
              <a:rPr lang="en-US" sz="16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datas sempre em ISO, independente do banco.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Quem converte um formato no outro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962870"/>
            <a:ext cx="1828800" cy="530820"/>
          </a:xfrm>
          <a:prstGeom prst="roundRect">
            <a:avLst>
              <a:gd name="adj" fmla="val 15551"/>
            </a:avLst>
          </a:prstGeom>
          <a:solidFill>
            <a:srgbClr val="FCE9D8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7100" y="3121620"/>
            <a:ext cx="1612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3A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CreateUserDTO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06700" y="3360341"/>
            <a:ext cx="2108200" cy="0"/>
          </a:xfrm>
          <a:prstGeom prst="line">
            <a:avLst/>
          </a:prstGeom>
          <a:noFill/>
          <a:ln w="19050">
            <a:solidFill>
              <a:srgbClr val="6A71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75077" y="3086695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31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toPersistence 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67300" y="2960291"/>
            <a:ext cx="1841500" cy="535880"/>
          </a:xfrm>
          <a:prstGeom prst="roundRect">
            <a:avLst>
              <a:gd name="adj" fmla="val 16590"/>
            </a:avLst>
          </a:prstGeom>
          <a:solidFill>
            <a:srgbClr val="1B2233"/>
          </a:solidFill>
          <a:ln/>
        </p:spPr>
      </p:sp>
      <p:sp>
        <p:nvSpPr>
          <p:cNvPr id="9" name="Text 7"/>
          <p:cNvSpPr/>
          <p:nvPr/>
        </p:nvSpPr>
        <p:spPr>
          <a:xfrm>
            <a:off x="5168900" y="3112691"/>
            <a:ext cx="1638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Entidade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800" y="3681611"/>
            <a:ext cx="1841500" cy="535880"/>
          </a:xfrm>
          <a:prstGeom prst="roundRect">
            <a:avLst>
              <a:gd name="adj" fmla="val 16590"/>
            </a:avLst>
          </a:prstGeom>
          <a:solidFill>
            <a:srgbClr val="1B223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834011"/>
            <a:ext cx="1638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Entidade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06700" y="4081661"/>
            <a:ext cx="2108200" cy="0"/>
          </a:xfrm>
          <a:prstGeom prst="line">
            <a:avLst/>
          </a:prstGeom>
          <a:noFill/>
          <a:ln w="19050">
            <a:solidFill>
              <a:srgbClr val="6A71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5077" y="3808016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31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toResponse 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73650" y="3684191"/>
            <a:ext cx="1828800" cy="530820"/>
          </a:xfrm>
          <a:prstGeom prst="roundRect">
            <a:avLst>
              <a:gd name="adj" fmla="val 15551"/>
            </a:avLst>
          </a:prstGeom>
          <a:solidFill>
            <a:srgbClr val="DCE8F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1600" y="3842941"/>
            <a:ext cx="1612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D4A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UserResponseDTO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4402931"/>
            <a:ext cx="1841500" cy="535880"/>
          </a:xfrm>
          <a:prstGeom prst="roundRect">
            <a:avLst>
              <a:gd name="adj" fmla="val 16590"/>
            </a:avLst>
          </a:prstGeom>
          <a:solidFill>
            <a:srgbClr val="1B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555331"/>
            <a:ext cx="1638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Entidade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06700" y="4802981"/>
            <a:ext cx="2108200" cy="0"/>
          </a:xfrm>
          <a:prstGeom prst="line">
            <a:avLst/>
          </a:prstGeom>
          <a:noFill/>
          <a:ln w="19050">
            <a:solidFill>
              <a:srgbClr val="6A71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75077" y="4529336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31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toListItem 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73650" y="4405511"/>
            <a:ext cx="1828800" cy="530820"/>
          </a:xfrm>
          <a:prstGeom prst="roundRect">
            <a:avLst>
              <a:gd name="adj" fmla="val 15551"/>
            </a:avLst>
          </a:prstGeom>
          <a:solidFill>
            <a:srgbClr val="DCE8F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1600" y="4564261"/>
            <a:ext cx="1612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D4A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UserListItemDTO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0" y="2458740"/>
            <a:ext cx="418592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Função pura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0" y="2783780"/>
            <a:ext cx="418592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Recebe um objeto, devolve outro. Não acessa banco, nem req, nem res.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0" y="3520380"/>
            <a:ext cx="418592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formato por função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15200" y="3845421"/>
            <a:ext cx="418592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Detalhe, listagem e cadastro são contratos diferentes.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315200" y="4582021"/>
            <a:ext cx="418592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Fácil de testar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15200" y="4907062"/>
            <a:ext cx="418592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Entrada conhecida, saída previsível. Nenhum mock.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MAPPERS/USER.MAPPER.JS</a:t>
            </a:r>
            <a:endParaRPr lang="en-US" sz="1159" dirty="0"/>
          </a:p>
        </p:txBody>
      </p:sp>
      <p:sp>
        <p:nvSpPr>
          <p:cNvPr id="3" name="Text 1"/>
          <p:cNvSpPr/>
          <p:nvPr/>
        </p:nvSpPr>
        <p:spPr>
          <a:xfrm>
            <a:off x="812800" y="1093391"/>
            <a:ext cx="10883392" cy="453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6"/>
              </a:lnSpc>
              <a:buNone/>
            </a:pPr>
            <a:r>
              <a:rPr lang="en-US" sz="306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mapper por recurso, vários formatos</a:t>
            </a:r>
            <a:endParaRPr lang="en-US" sz="3060" dirty="0"/>
          </a:p>
        </p:txBody>
      </p:sp>
      <p:sp>
        <p:nvSpPr>
          <p:cNvPr id="4" name="Shape 2"/>
          <p:cNvSpPr/>
          <p:nvPr/>
        </p:nvSpPr>
        <p:spPr>
          <a:xfrm>
            <a:off x="812800" y="1826320"/>
            <a:ext cx="6747173" cy="4218880"/>
          </a:xfrm>
          <a:prstGeom prst="roundRect">
            <a:avLst>
              <a:gd name="adj" fmla="val 2408"/>
            </a:avLst>
          </a:prstGeom>
          <a:solidFill>
            <a:srgbClr val="1B2233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029520"/>
            <a:ext cx="6426348" cy="3837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148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1148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UserMapper = {</a:t>
            </a:r>
            <a:endParaRPr lang="en-US" sz="1148" dirty="0"/>
          </a:p>
          <a:p>
            <a:pPr algn="l" indent="0" marL="0">
              <a:lnSpc>
                <a:spcPts val="1664"/>
              </a:lnSpc>
              <a:buNone/>
            </a:pPr>
            <a:r>
              <a:rPr lang="en-US" sz="1148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toPersistence(dto, passwordHash) {</a:t>
            </a:r>
            <a:endParaRPr lang="en-US" sz="1148" dirty="0"/>
          </a:p>
          <a:p>
            <a:pPr algn="l" indent="0" marL="0">
              <a:lnSpc>
                <a:spcPts val="1664"/>
              </a:lnSpc>
              <a:buNone/>
            </a:pPr>
            <a:r>
              <a:rPr lang="en-US" sz="1148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148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1148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 name: dto.name, email: dto.email, passwordHash };</a:t>
            </a:r>
            <a:endParaRPr lang="en-US" sz="1148" dirty="0"/>
          </a:p>
          <a:p>
            <a:pPr algn="l" indent="0" marL="0">
              <a:lnSpc>
                <a:spcPts val="1664"/>
              </a:lnSpc>
              <a:buNone/>
            </a:pPr>
            <a:r>
              <a:rPr lang="en-US" sz="1148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},</a:t>
            </a:r>
            <a:endParaRPr lang="en-US" sz="1148" dirty="0"/>
          </a:p>
          <a:p>
            <a:pPr algn="l" indent="0" marL="0">
              <a:lnSpc>
                <a:spcPts val="1664"/>
              </a:lnSpc>
              <a:buNone/>
            </a:pPr>
            <a:r>
              <a:rPr lang="en-US" sz="1148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toResponse(user) {</a:t>
            </a:r>
            <a:endParaRPr lang="en-US" sz="1148" dirty="0"/>
          </a:p>
          <a:p>
            <a:pPr algn="l" indent="0" marL="0">
              <a:lnSpc>
                <a:spcPts val="1664"/>
              </a:lnSpc>
              <a:buNone/>
            </a:pPr>
            <a:r>
              <a:rPr lang="en-US" sz="1148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148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1148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 id: user.id, name: user.name, email: user.email,</a:t>
            </a:r>
            <a:endParaRPr lang="en-US" sz="1148" dirty="0"/>
          </a:p>
          <a:p>
            <a:pPr algn="l" indent="0" marL="0">
              <a:lnSpc>
                <a:spcPts val="1664"/>
              </a:lnSpc>
              <a:buNone/>
            </a:pPr>
            <a:r>
              <a:rPr lang="en-US" sz="1148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createdAt: user.createdAt.toISOString() };</a:t>
            </a:r>
            <a:endParaRPr lang="en-US" sz="1148" dirty="0"/>
          </a:p>
          <a:p>
            <a:pPr algn="l" indent="0" marL="0">
              <a:lnSpc>
                <a:spcPts val="1664"/>
              </a:lnSpc>
              <a:buNone/>
            </a:pPr>
            <a:r>
              <a:rPr lang="en-US" sz="1148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},</a:t>
            </a:r>
            <a:endParaRPr lang="en-US" sz="1148" dirty="0"/>
          </a:p>
          <a:p>
            <a:pPr algn="l" indent="0" marL="0">
              <a:lnSpc>
                <a:spcPts val="1664"/>
              </a:lnSpc>
              <a:buNone/>
            </a:pPr>
            <a:r>
              <a:rPr lang="en-US" sz="1148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toListItem(user) {</a:t>
            </a:r>
            <a:endParaRPr lang="en-US" sz="1148" dirty="0"/>
          </a:p>
          <a:p>
            <a:pPr algn="l" indent="0" marL="0">
              <a:lnSpc>
                <a:spcPts val="1664"/>
              </a:lnSpc>
              <a:buNone/>
            </a:pPr>
            <a:r>
              <a:rPr lang="en-US" sz="1148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148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1148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 id: user.id, name: user.name };</a:t>
            </a:r>
            <a:endParaRPr lang="en-US" sz="1148" dirty="0"/>
          </a:p>
          <a:p>
            <a:pPr algn="l" indent="0" marL="0">
              <a:lnSpc>
                <a:spcPts val="1664"/>
              </a:lnSpc>
              <a:buNone/>
            </a:pPr>
            <a:r>
              <a:rPr lang="en-US" sz="1148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},</a:t>
            </a:r>
            <a:endParaRPr lang="en-US" sz="1148" dirty="0"/>
          </a:p>
          <a:p>
            <a:pPr algn="l" indent="0" marL="0">
              <a:lnSpc>
                <a:spcPts val="1664"/>
              </a:lnSpc>
              <a:buNone/>
            </a:pPr>
            <a:r>
              <a:rPr lang="en-US" sz="1148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toDetail(user) {</a:t>
            </a:r>
            <a:endParaRPr lang="en-US" sz="1148" dirty="0"/>
          </a:p>
          <a:p>
            <a:pPr algn="l" indent="0" marL="0">
              <a:lnSpc>
                <a:spcPts val="1664"/>
              </a:lnSpc>
              <a:buNone/>
            </a:pPr>
            <a:r>
              <a:rPr lang="en-US" sz="1148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148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1148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</a:t>
            </a:r>
            <a:endParaRPr lang="en-US" sz="1148" dirty="0"/>
          </a:p>
          <a:p>
            <a:pPr algn="l" indent="0" marL="0">
              <a:lnSpc>
                <a:spcPts val="1664"/>
              </a:lnSpc>
              <a:buNone/>
            </a:pPr>
            <a:r>
              <a:rPr lang="en-US" sz="1148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...UserMapper.toResponse(user),</a:t>
            </a:r>
            <a:endParaRPr lang="en-US" sz="1148" dirty="0"/>
          </a:p>
          <a:p>
            <a:pPr algn="l" indent="0" marL="0">
              <a:lnSpc>
                <a:spcPts val="1664"/>
              </a:lnSpc>
              <a:buNone/>
            </a:pPr>
            <a:r>
              <a:rPr lang="en-US" sz="1148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posts: user.posts.map(</a:t>
            </a:r>
            <a:r>
              <a:rPr lang="en-US" sz="1148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PostMapper.toSummary</a:t>
            </a:r>
            <a:r>
              <a:rPr lang="en-US" sz="1148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),</a:t>
            </a:r>
            <a:endParaRPr lang="en-US" sz="1148" dirty="0"/>
          </a:p>
          <a:p>
            <a:pPr algn="l" indent="0" marL="0">
              <a:lnSpc>
                <a:spcPts val="1664"/>
              </a:lnSpc>
              <a:buNone/>
            </a:pPr>
            <a:r>
              <a:rPr lang="en-US" sz="1148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};</a:t>
            </a:r>
            <a:endParaRPr lang="en-US" sz="1148" dirty="0"/>
          </a:p>
          <a:p>
            <a:pPr algn="l" indent="0" marL="0">
              <a:lnSpc>
                <a:spcPts val="1664"/>
              </a:lnSpc>
              <a:buNone/>
            </a:pPr>
            <a:r>
              <a:rPr lang="en-US" sz="1148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},</a:t>
            </a:r>
            <a:endParaRPr lang="en-US" sz="1148" dirty="0"/>
          </a:p>
          <a:p>
            <a:pPr algn="l" indent="0" marL="0">
              <a:lnSpc>
                <a:spcPts val="1664"/>
              </a:lnSpc>
              <a:buNone/>
            </a:pPr>
            <a:r>
              <a:rPr lang="en-US" sz="1148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};</a:t>
            </a:r>
            <a:endParaRPr lang="en-US" sz="1148" dirty="0"/>
          </a:p>
        </p:txBody>
      </p:sp>
      <p:sp>
        <p:nvSpPr>
          <p:cNvPr id="6" name="Text 4"/>
          <p:cNvSpPr/>
          <p:nvPr/>
        </p:nvSpPr>
        <p:spPr>
          <a:xfrm>
            <a:off x="7813973" y="2824460"/>
            <a:ext cx="367218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Relacionamentos: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um mapper chama o outro, e você decide até onde vai. Fim do loop user → posts → author.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13973" y="3802360"/>
            <a:ext cx="367218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Reuso: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toDetail aproveita o toResponse com spread.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13973" y="4513560"/>
            <a:ext cx="367218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nosso projeto: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toUserResponseDTO é o toResponse.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ESCREVER À MÃO OU USAR BIBLIOTECA?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Opções de mapper no ecossistema JS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16001"/>
          <a:ext cx="10553700" cy="2619375"/>
        </p:xfrm>
        <a:graphic>
          <a:graphicData uri="http://schemas.openxmlformats.org/drawingml/2006/table">
            <a:tbl>
              <a:tblPr/>
              <a:tblGrid>
                <a:gridCol w="2532888"/>
                <a:gridCol w="4643628"/>
                <a:gridCol w="3377184"/>
              </a:tblGrid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6F5F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Opção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6F5F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Como funciona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6F5F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Quando usar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3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9A4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Função manual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Você monta o objeto de saída campo a campo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Padrão para começar: explícito e sem dependência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32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9A4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Zod (schema de saída)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ResponseSchema.parse(user) descarta o que não está no schema e confere o formato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Quem já usa Zod na entrada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9A4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class-transformer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Decorators @Expose e @Exclude na classe + plainToInstance e instanceToPlain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TypeScript com classes; muito usado no NestJS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32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9A4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@automapper/core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Perfis de mapeamento configurados uma vez; inspirado no AutoMapper do .NET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TypeScript com muitos mapeamentos repetitivos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689376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outras linguagens:</a:t>
            </a:r>
            <a:r>
              <a:rPr lang="en-US" sz="14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Java → MapStruct, ModelMapper · C# → AutoMapper, Mapster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DEPOIS DO MAPPER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viagem de ida e volta do JSON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387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3A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IDA · FRONT → API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9150" y="2708870"/>
            <a:ext cx="1780480" cy="497780"/>
          </a:xfrm>
          <a:prstGeom prst="roundRect">
            <a:avLst>
              <a:gd name="adj" fmla="val 16584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6300" y="2842220"/>
            <a:ext cx="166618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objeto JS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94880" y="2797770"/>
            <a:ext cx="2794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85A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18730" y="2717701"/>
            <a:ext cx="1780580" cy="480020"/>
          </a:xfrm>
          <a:prstGeom prst="roundRect">
            <a:avLst>
              <a:gd name="adj" fmla="val 17197"/>
            </a:avLst>
          </a:prstGeom>
          <a:solidFill>
            <a:srgbClr val="FCE9D8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75880" y="2851051"/>
            <a:ext cx="1666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3A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JSON.stringify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4560" y="2797770"/>
            <a:ext cx="2794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85A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212060" y="2715220"/>
            <a:ext cx="1767780" cy="485080"/>
          </a:xfrm>
          <a:prstGeom prst="roundRect">
            <a:avLst>
              <a:gd name="adj" fmla="val 18327"/>
            </a:avLst>
          </a:prstGeom>
          <a:solidFill>
            <a:srgbClr val="1B2233"/>
          </a:solidFill>
          <a:ln/>
        </p:spPr>
      </p:sp>
      <p:sp>
        <p:nvSpPr>
          <p:cNvPr id="12" name="Text 10"/>
          <p:cNvSpPr/>
          <p:nvPr/>
        </p:nvSpPr>
        <p:spPr>
          <a:xfrm>
            <a:off x="5262860" y="2842220"/>
            <a:ext cx="166618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 na rede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68741" y="2797770"/>
            <a:ext cx="2794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85A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92591" y="2717701"/>
            <a:ext cx="1780580" cy="480020"/>
          </a:xfrm>
          <a:prstGeom prst="roundRect">
            <a:avLst>
              <a:gd name="adj" fmla="val 17197"/>
            </a:avLst>
          </a:prstGeom>
          <a:solidFill>
            <a:srgbClr val="FCE9D8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49741" y="2851051"/>
            <a:ext cx="1666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3A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express.json()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268420" y="2797770"/>
            <a:ext cx="2794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85A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592270" y="2717701"/>
            <a:ext cx="1780580" cy="480020"/>
          </a:xfrm>
          <a:prstGeom prst="roundRect">
            <a:avLst>
              <a:gd name="adj" fmla="val 17197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49420" y="2851051"/>
            <a:ext cx="1666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31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req.body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40513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4A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VOLTA · API → FRONT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9150" y="4372570"/>
            <a:ext cx="1780480" cy="497780"/>
          </a:xfrm>
          <a:prstGeom prst="roundRect">
            <a:avLst>
              <a:gd name="adj" fmla="val 16584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6300" y="4505920"/>
            <a:ext cx="166618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entidade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94880" y="4461470"/>
            <a:ext cx="2794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F6D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018730" y="4372570"/>
            <a:ext cx="1780580" cy="497780"/>
          </a:xfrm>
          <a:prstGeom prst="roundRect">
            <a:avLst>
              <a:gd name="adj" fmla="val 16584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75880" y="4505920"/>
            <a:ext cx="166628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mapper → DTO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4560" y="4461470"/>
            <a:ext cx="2794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F6D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218410" y="4381401"/>
            <a:ext cx="1780480" cy="480020"/>
          </a:xfrm>
          <a:prstGeom prst="roundRect">
            <a:avLst>
              <a:gd name="adj" fmla="val 17197"/>
            </a:avLst>
          </a:prstGeom>
          <a:solidFill>
            <a:srgbClr val="DCE8F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75560" y="4514751"/>
            <a:ext cx="16661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D4A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res.json()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94141" y="4461470"/>
            <a:ext cx="2794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F6D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411641" y="4378920"/>
            <a:ext cx="1767880" cy="485080"/>
          </a:xfrm>
          <a:prstGeom prst="roundRect">
            <a:avLst>
              <a:gd name="adj" fmla="val 18327"/>
            </a:avLst>
          </a:prstGeom>
          <a:solidFill>
            <a:srgbClr val="1B2233"/>
          </a:solidFill>
          <a:ln/>
        </p:spPr>
      </p:sp>
      <p:sp>
        <p:nvSpPr>
          <p:cNvPr id="30" name="Text 28"/>
          <p:cNvSpPr/>
          <p:nvPr/>
        </p:nvSpPr>
        <p:spPr>
          <a:xfrm>
            <a:off x="7462441" y="4505920"/>
            <a:ext cx="166628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 na rede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68420" y="4461470"/>
            <a:ext cx="2794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F6D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592270" y="4381401"/>
            <a:ext cx="1780580" cy="480020"/>
          </a:xfrm>
          <a:prstGeom prst="roundRect">
            <a:avLst>
              <a:gd name="adj" fmla="val 17197"/>
            </a:avLst>
          </a:prstGeom>
          <a:solidFill>
            <a:srgbClr val="DCE8F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49420" y="4514751"/>
            <a:ext cx="1666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D4A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response.json()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2800" y="5715000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 rede só viaja </a:t>
            </a:r>
            <a:r>
              <a:rPr lang="en-US" sz="20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</a:t>
            </a:r>
            <a:r>
              <a:rPr lang="en-US" sz="20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O JSON é o </a:t>
            </a:r>
            <a:r>
              <a:rPr lang="en-US" sz="2000" dirty="0">
                <a:solidFill>
                  <a:srgbClr val="B85A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DTO serializado</a:t>
            </a:r>
            <a:r>
              <a:rPr lang="en-US" sz="20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RES.JSON(DTO) = JSON.STRINGIFY + CONTENT-TYPE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JSON não guarda tudo que o JS tem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16001"/>
          <a:ext cx="10553700" cy="2768600"/>
        </p:xfrm>
        <a:graphic>
          <a:graphicData uri="http://schemas.openxmlformats.org/drawingml/2006/table">
            <a:tbl>
              <a:tblPr/>
              <a:tblGrid>
                <a:gridCol w="2955036"/>
                <a:gridCol w="3799332"/>
                <a:gridCol w="3799332"/>
              </a:tblGrid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6F5F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objeto JS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6F5F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JSON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6F5F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Consequência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3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new Date()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D4A8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"2026-09-28T12:32:36.024Z"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Chega no front como string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undefined ou função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D4A8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 campo some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Em array, vira null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NaN, Infinity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D4A8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null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Número inválido some em silêncio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Map, Set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D4A8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{}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Converta para objeto ou array antes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BigInt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9E2F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TypeError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Converta para string no mapper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Referência circular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9E2F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TypeError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 mapper corta a relação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Objeto com toJSON()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D4A8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 retorno do toJSON()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Instância do ORM vira tudo que ela tem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83860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isso o </a:t>
            </a:r>
            <a:r>
              <a:rPr lang="en-US" sz="15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mapper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entrega um objeto simples, com tipos que o JSON entende.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DEVTOOLS › NETWORK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realmente viaja pela rede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10566400" cy="1736725"/>
          </a:xfrm>
          <a:prstGeom prst="roundRect">
            <a:avLst>
              <a:gd name="adj" fmla="val 5850"/>
            </a:avLst>
          </a:prstGeom>
          <a:solidFill>
            <a:srgbClr val="1B2233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1981101"/>
            <a:ext cx="10360152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 /users HTTP/1.1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8E97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Host:</a:t>
            </a: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localhost:3001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8E97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Content-Type:</a:t>
            </a: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application/json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8E97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Content-Length:</a:t>
            </a: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68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{"name":"Ana Souza","email":"ana@exemplo.com","password":"12345678"}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2800" y="3794026"/>
            <a:ext cx="10566400" cy="1506538"/>
          </a:xfrm>
          <a:prstGeom prst="roundRect">
            <a:avLst>
              <a:gd name="adj" fmla="val 6744"/>
            </a:avLst>
          </a:prstGeom>
          <a:solidFill>
            <a:srgbClr val="1B2233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3971826"/>
            <a:ext cx="10360152" cy="1176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HTTP/1.1 201 Created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8E97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Content-Type:</a:t>
            </a: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application/json; charset=utf-8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8E97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Location:</a:t>
            </a: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/users/1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{"id":1,"name":"Ana Souza","email":"ana@exemplo.com","createdAt":"2026-09-28T12:32:36.024Z"}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OUTRA PONTA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Como o front manda e recebe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101"/>
            <a:ext cx="6541492" cy="3552825"/>
          </a:xfrm>
          <a:prstGeom prst="roundRect">
            <a:avLst>
              <a:gd name="adj" fmla="val 2860"/>
            </a:avLst>
          </a:prstGeom>
          <a:solidFill>
            <a:srgbClr val="1B2233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082701"/>
            <a:ext cx="6214497" cy="3121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res = </a:t>
            </a:r>
            <a:r>
              <a:rPr lang="en-US" sz="125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fetch(</a:t>
            </a:r>
            <a:r>
              <a:rPr lang="en-US" sz="125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'/users'</a:t>
            </a: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{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method: </a:t>
            </a:r>
            <a:r>
              <a:rPr lang="en-US" sz="125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'POST'</a:t>
            </a: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headers: { </a:t>
            </a:r>
            <a:r>
              <a:rPr lang="en-US" sz="125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'Content-Type'</a:t>
            </a: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25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'application/json'</a:t>
            </a: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},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body: </a:t>
            </a:r>
            <a:r>
              <a:rPr lang="en-US" sz="125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JSON.stringify</a:t>
            </a: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({ name, email, password }),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});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data = </a:t>
            </a:r>
            <a:r>
              <a:rPr lang="en-US" sz="125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res.json(); </a:t>
            </a:r>
            <a:r>
              <a:rPr lang="en-US" sz="1250" dirty="0">
                <a:solidFill>
                  <a:srgbClr val="8E97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texto → objeto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(!res.ok) { </a:t>
            </a:r>
            <a:r>
              <a:rPr lang="en-US" sz="1250" dirty="0">
                <a:solidFill>
                  <a:srgbClr val="8E97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ok = status 200–299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mostrarErros(data.details);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25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console.log(data.id); </a:t>
            </a:r>
            <a:r>
              <a:rPr lang="en-US" sz="1250" dirty="0">
                <a:solidFill>
                  <a:srgbClr val="8E97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é o UserResponseDTO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08292" y="2785963"/>
            <a:ext cx="388403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o Content-Type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o Express não lê o corpo e req.body chega vazio.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08292" y="3497163"/>
            <a:ext cx="388403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res.ok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depende do status code. 200 com erro no corpo engana o front.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08292" y="4208363"/>
            <a:ext cx="388403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204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não tem corpo: não chame res.json().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APP.USE(EXPRESS.JSON())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Chegando no Express: texto vira objeto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09651"/>
            <a:ext cx="5194300" cy="902295"/>
          </a:xfrm>
          <a:prstGeom prst="roundRect">
            <a:avLst>
              <a:gd name="adj" fmla="val 10556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4100" y="1993801"/>
            <a:ext cx="48661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F6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JSON válido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4100" y="2270621"/>
            <a:ext cx="4866132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JSON.parse → </a:t>
            </a:r>
            <a:r>
              <a:rPr lang="en-US" sz="15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req.body</a:t>
            </a:r>
            <a:r>
              <a:rPr lang="en-US" sz="15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vira objeto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8550" y="1809651"/>
            <a:ext cx="5194300" cy="902295"/>
          </a:xfrm>
          <a:prstGeom prst="roundRect">
            <a:avLst>
              <a:gd name="adj" fmla="val 10556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3500" y="1993801"/>
            <a:ext cx="48661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1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Content-Type errado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13500" y="2270621"/>
            <a:ext cx="4866132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Corpo ignorado → </a:t>
            </a:r>
            <a:r>
              <a:rPr lang="en-US" sz="15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req.body</a:t>
            </a:r>
            <a:r>
              <a:rPr lang="en-US" sz="15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é undefined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9150" y="2877046"/>
            <a:ext cx="5194300" cy="902295"/>
          </a:xfrm>
          <a:prstGeom prst="roundRect">
            <a:avLst>
              <a:gd name="adj" fmla="val 10556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4100" y="3061196"/>
            <a:ext cx="48661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4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JSON malformado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4100" y="3338016"/>
            <a:ext cx="4866132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 </a:t>
            </a:r>
            <a:r>
              <a:rPr lang="en-US" sz="15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400</a:t>
            </a:r>
            <a:r>
              <a:rPr lang="en-US" sz="15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(entity.parse.failed)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8550" y="2877046"/>
            <a:ext cx="5194300" cy="902295"/>
          </a:xfrm>
          <a:prstGeom prst="roundRect">
            <a:avLst>
              <a:gd name="adj" fmla="val 10556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3500" y="3061196"/>
            <a:ext cx="48661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4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Corpo acima de 100 kb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13500" y="3338016"/>
            <a:ext cx="4866132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 </a:t>
            </a:r>
            <a:r>
              <a:rPr lang="en-US" sz="15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413</a:t>
            </a:r>
            <a:r>
              <a:rPr lang="en-US" sz="15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Payload Too Large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2800" y="4039691"/>
            <a:ext cx="10566400" cy="1023541"/>
          </a:xfrm>
          <a:prstGeom prst="roundRect">
            <a:avLst>
              <a:gd name="adj" fmla="val 9926"/>
            </a:avLst>
          </a:prstGeom>
          <a:solidFill>
            <a:srgbClr val="131A2A"/>
          </a:solidFill>
          <a:ln/>
        </p:spPr>
      </p:sp>
      <p:sp>
        <p:nvSpPr>
          <p:cNvPr id="17" name="Text 15"/>
          <p:cNvSpPr/>
          <p:nvPr/>
        </p:nvSpPr>
        <p:spPr>
          <a:xfrm>
            <a:off x="1066800" y="4242891"/>
            <a:ext cx="10360152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Parseado </a:t>
            </a:r>
            <a:r>
              <a:rPr lang="en-US" sz="18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 é</a:t>
            </a:r>
            <a:r>
              <a:rPr lang="en-US" sz="180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validado: req.body é um objeto, mas pode ter </a:t>
            </a:r>
            <a:r>
              <a:rPr lang="en-US" sz="18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qualquer coisa</a:t>
            </a:r>
            <a:r>
              <a:rPr lang="en-US" sz="180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8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B9C1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Quem confere o conteúdo é o DTO de entrada → próximo bloco.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39950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800" y="335915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Validação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36245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9C1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DTOs de entrada com Zod · 15 min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DTOS/USER.DTO.JS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DTO de entrada: um schema Zod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101"/>
            <a:ext cx="10566400" cy="3479800"/>
          </a:xfrm>
          <a:prstGeom prst="roundRect">
            <a:avLst>
              <a:gd name="adj" fmla="val 2920"/>
            </a:avLst>
          </a:prstGeom>
          <a:solidFill>
            <a:srgbClr val="1B2233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108101"/>
            <a:ext cx="10255504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 z } = require(</a:t>
            </a:r>
            <a:r>
              <a:rPr lang="en-US" sz="130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'zod'</a:t>
            </a: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CreateUserDTO = z.object({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name: z.string().trim().min(3, </a:t>
            </a:r>
            <a:r>
              <a:rPr lang="en-US" sz="130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'Nome deve ter pelo menos 3 caracteres'</a:t>
            </a: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email: z.email(</a:t>
            </a:r>
            <a:r>
              <a:rPr lang="en-US" sz="130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'E-mail inválido'</a:t>
            </a: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).toLowerCase(),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password: z.string().min(8, </a:t>
            </a:r>
            <a:r>
              <a:rPr lang="en-US" sz="130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'Senha deve ter pelo menos 8 caracteres'</a:t>
            </a: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});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8E97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Update: tudo opcional, mas precisa vir ao menos um campo. E sem password!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UpdateUserDTO = z.object({ name: ..., email: ... })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.partial()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.refine((data) =&gt; Object.keys(data).length &gt; 0, { message: </a:t>
            </a:r>
            <a:r>
              <a:rPr lang="en-US" sz="130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'Informe ao menos um campo'</a:t>
            </a: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});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SCHEMA.SAFEPARSE(REQ.BODY)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parse, três trabalhos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60451"/>
            <a:ext cx="3373934" cy="4178399"/>
          </a:xfrm>
          <a:prstGeom prst="roundRect">
            <a:avLst>
              <a:gd name="adj" fmla="val 2823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pic>
        <p:nvPicPr>
          <p:cNvPr id="5" name="Image 0" descr="Verifie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9500" y="2120801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9500" y="2603401"/>
            <a:ext cx="293883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79500" y="3065661"/>
            <a:ext cx="2938831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Regras de tipo, tamanho e formato, com mensagem por campo.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79500" y="3992761"/>
            <a:ext cx="2853234" cy="431800"/>
          </a:xfrm>
          <a:prstGeom prst="roundRect">
            <a:avLst>
              <a:gd name="adj" fmla="val 11765"/>
            </a:avLst>
          </a:prstGeom>
          <a:solidFill>
            <a:srgbClr val="EFECE4"/>
          </a:solidFill>
          <a:ln/>
        </p:spPr>
      </p:sp>
      <p:sp>
        <p:nvSpPr>
          <p:cNvPr id="9" name="Text 6"/>
          <p:cNvSpPr/>
          <p:nvPr/>
        </p:nvSpPr>
        <p:spPr>
          <a:xfrm>
            <a:off x="1206500" y="4094361"/>
            <a:ext cx="267721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1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"abc" → E-mail inválido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08984" y="1860451"/>
            <a:ext cx="3374033" cy="4178399"/>
          </a:xfrm>
          <a:prstGeom prst="roundRect">
            <a:avLst>
              <a:gd name="adj" fmla="val 2823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pic>
        <p:nvPicPr>
          <p:cNvPr id="11" name="Image 1" descr="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9334" y="2120801"/>
            <a:ext cx="355600" cy="355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9334" y="2603401"/>
            <a:ext cx="2938933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Filtra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669334" y="3065661"/>
            <a:ext cx="293893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Campos fora do schema são descartados. Adeus mass assignment.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669334" y="3992761"/>
            <a:ext cx="2853333" cy="431800"/>
          </a:xfrm>
          <a:prstGeom prst="roundRect">
            <a:avLst>
              <a:gd name="adj" fmla="val 11765"/>
            </a:avLst>
          </a:prstGeom>
          <a:solidFill>
            <a:srgbClr val="EFECE4"/>
          </a:solidFill>
          <a:ln/>
        </p:spPr>
      </p:sp>
      <p:sp>
        <p:nvSpPr>
          <p:cNvPr id="15" name="Text 11"/>
          <p:cNvSpPr/>
          <p:nvPr/>
        </p:nvSpPr>
        <p:spPr>
          <a:xfrm>
            <a:off x="4796334" y="4094361"/>
            <a:ext cx="2677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1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"role": "admin" → some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998916" y="1860451"/>
            <a:ext cx="3373934" cy="4178399"/>
          </a:xfrm>
          <a:prstGeom prst="roundRect">
            <a:avLst>
              <a:gd name="adj" fmla="val 2823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pic>
        <p:nvPicPr>
          <p:cNvPr id="17" name="Image 2" descr="Wrench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9266" y="2120801"/>
            <a:ext cx="355600" cy="355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59266" y="2603401"/>
            <a:ext cx="293883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Transforma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8259266" y="3065661"/>
            <a:ext cx="293883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trim, toLowerCase, e coerce de string para número.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8259266" y="3726061"/>
            <a:ext cx="2853234" cy="660400"/>
          </a:xfrm>
          <a:prstGeom prst="roundRect">
            <a:avLst>
              <a:gd name="adj" fmla="val 7692"/>
            </a:avLst>
          </a:prstGeom>
          <a:solidFill>
            <a:srgbClr val="EFECE4"/>
          </a:solidFill>
          <a:ln/>
        </p:spPr>
      </p:sp>
      <p:sp>
        <p:nvSpPr>
          <p:cNvPr id="21" name="Text 16"/>
          <p:cNvSpPr/>
          <p:nvPr/>
        </p:nvSpPr>
        <p:spPr>
          <a:xfrm>
            <a:off x="8386266" y="3827661"/>
            <a:ext cx="267721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1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"ANA@x.com" → "ana@x.com"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1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"/users/7" → id: 7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5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MIDDLEWARES/VALIDATE.JS</a:t>
            </a:r>
            <a:endParaRPr lang="en-US" sz="1196" dirty="0"/>
          </a:p>
        </p:txBody>
      </p:sp>
      <p:sp>
        <p:nvSpPr>
          <p:cNvPr id="3" name="Text 1"/>
          <p:cNvSpPr/>
          <p:nvPr/>
        </p:nvSpPr>
        <p:spPr>
          <a:xfrm>
            <a:off x="812800" y="1098649"/>
            <a:ext cx="10883392" cy="464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middleware para qualquer DTO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812800" y="1842790"/>
            <a:ext cx="6541492" cy="4202410"/>
          </a:xfrm>
          <a:prstGeom prst="roundRect">
            <a:avLst>
              <a:gd name="adj" fmla="val 2418"/>
            </a:avLst>
          </a:prstGeom>
          <a:solidFill>
            <a:srgbClr val="1B2233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071390"/>
            <a:ext cx="6214497" cy="3770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227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</a:t>
            </a: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validate(schema, source = </a:t>
            </a:r>
            <a:r>
              <a:rPr lang="en-US" sz="1227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'body'</a:t>
            </a: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{</a:t>
            </a: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227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(req, res, next) =&gt; {</a:t>
            </a: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227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result = schema.safeParse(req[source]);</a:t>
            </a: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227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(!result.success) {</a:t>
            </a: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</a:t>
            </a:r>
            <a:r>
              <a:rPr lang="en-US" sz="1227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details = result.error.issues.map((i) =&gt; ({</a:t>
            </a: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field: i.path.join(</a:t>
            </a:r>
            <a:r>
              <a:rPr lang="en-US" sz="1227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'.'</a:t>
            </a: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),</a:t>
            </a: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message: i.message,</a:t>
            </a: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}));</a:t>
            </a: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</a:t>
            </a:r>
            <a:r>
              <a:rPr lang="en-US" sz="1227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throw new</a:t>
            </a: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ValidationError(details);</a:t>
            </a: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req[source] = result.data; </a:t>
            </a:r>
            <a:r>
              <a:rPr lang="en-US" sz="1227" dirty="0">
                <a:solidFill>
                  <a:srgbClr val="8E97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dado limpo</a:t>
            </a: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next();</a:t>
            </a: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};</a:t>
            </a: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27" dirty="0"/>
          </a:p>
        </p:txBody>
      </p:sp>
      <p:sp>
        <p:nvSpPr>
          <p:cNvPr id="6" name="Text 4"/>
          <p:cNvSpPr/>
          <p:nvPr/>
        </p:nvSpPr>
        <p:spPr>
          <a:xfrm>
            <a:off x="7608292" y="2912765"/>
            <a:ext cx="388403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Recebe o </a:t>
            </a:r>
            <a:r>
              <a:rPr lang="en-US" sz="16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schema</a:t>
            </a:r>
            <a:r>
              <a:rPr lang="en-US" sz="16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</a:t>
            </a:r>
            <a:r>
              <a:rPr lang="en-US" sz="16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onde</a:t>
            </a:r>
            <a:r>
              <a:rPr lang="en-US" sz="16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validar: body, params ou query.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08292" y="3659485"/>
            <a:ext cx="388403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Falhou? </a:t>
            </a:r>
            <a:r>
              <a:rPr lang="en-US" sz="16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Lança</a:t>
            </a:r>
            <a:r>
              <a:rPr lang="en-US" sz="16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um erro. Quem decide o status é o handler (bloco 04).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08292" y="4406205"/>
            <a:ext cx="388403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Passou? Troca o body pelo dado </a:t>
            </a:r>
            <a:r>
              <a:rPr lang="en-US" sz="16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já validado</a:t>
            </a:r>
            <a:r>
              <a:rPr lang="en-US" sz="16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ROUTES/USER.ROUTES.JS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rota declara o contrato de entrada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101"/>
            <a:ext cx="10566400" cy="2161183"/>
          </a:xfrm>
          <a:prstGeom prst="roundRect">
            <a:avLst>
              <a:gd name="adj" fmla="val 4701"/>
            </a:avLst>
          </a:prstGeom>
          <a:solidFill>
            <a:srgbClr val="1B2233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108101"/>
            <a:ext cx="10255504" cy="1678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router.post(</a:t>
            </a:r>
            <a:r>
              <a:rPr lang="en-US" sz="140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'/'</a:t>
            </a:r>
            <a:r>
              <a:rPr lang="en-US" sz="14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      </a:t>
            </a:r>
            <a:r>
              <a:rPr lang="en-US" sz="140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validate(CreateUserDTO)</a:t>
            </a:r>
            <a:r>
              <a:rPr lang="en-US" sz="14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userController.create);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router.get(</a:t>
            </a:r>
            <a:r>
              <a:rPr lang="en-US" sz="140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'/'</a:t>
            </a:r>
            <a:r>
              <a:rPr lang="en-US" sz="14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       userController.list);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router.get(</a:t>
            </a:r>
            <a:r>
              <a:rPr lang="en-US" sz="140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'/:id'</a:t>
            </a:r>
            <a:r>
              <a:rPr lang="en-US" sz="14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    </a:t>
            </a:r>
            <a:r>
              <a:rPr lang="en-US" sz="140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validate(UserIdParamDTO, 'params')</a:t>
            </a:r>
            <a:r>
              <a:rPr lang="en-US" sz="14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userController.getById);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router.patch(</a:t>
            </a:r>
            <a:r>
              <a:rPr lang="en-US" sz="140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'/:id'</a:t>
            </a:r>
            <a:r>
              <a:rPr lang="en-US" sz="14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  </a:t>
            </a:r>
            <a:r>
              <a:rPr lang="en-US" sz="140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validate(UserIdParamDTO, 'params')</a:t>
            </a:r>
            <a:r>
              <a:rPr lang="en-US" sz="14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         </a:t>
            </a:r>
            <a:r>
              <a:rPr lang="en-US" sz="140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validate(UpdateUserDTO)</a:t>
            </a:r>
            <a:r>
              <a:rPr lang="en-US" sz="14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userController.update);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router.delete(</a:t>
            </a:r>
            <a:r>
              <a:rPr lang="en-US" sz="140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'/:id'</a:t>
            </a:r>
            <a:r>
              <a:rPr lang="en-US" sz="14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40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validate(UserIdParamDTO, 'params')</a:t>
            </a:r>
            <a:r>
              <a:rPr lang="en-US" sz="14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userController.remove);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4320084"/>
            <a:ext cx="10883392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controller só roda com dados válidos. </a:t>
            </a:r>
            <a:r>
              <a:rPr lang="en-US" sz="17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Parâmetro de rota também é entrada</a:t>
            </a:r>
            <a:r>
              <a:rPr lang="en-US" sz="17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</a:t>
            </a:r>
            <a:r>
              <a:rPr lang="en-US" sz="1700" dirty="0">
                <a:solidFill>
                  <a:srgbClr val="B85A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/users/abc</a:t>
            </a:r>
            <a:r>
              <a:rPr lang="en-US" sz="17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nunca chega ao banco.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3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39950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800" y="335915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Status codes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36245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9C1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primeira coisa que o cliente lê, antes do JSON · 25 min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PRIMEIRO DÍGITO DIZ QUASE TUDO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Cinco famílias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11251"/>
            <a:ext cx="1978620" cy="1976041"/>
          </a:xfrm>
          <a:prstGeom prst="roundRect">
            <a:avLst>
              <a:gd name="adj" fmla="val 4820"/>
            </a:avLst>
          </a:prstGeom>
          <a:noFill/>
          <a:ln w="12700">
            <a:solidFill>
              <a:srgbClr val="DDD8CC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" y="2120801"/>
            <a:ext cx="161032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6A7182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1xx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28700" y="2837061"/>
            <a:ext cx="16103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1A2A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Informativo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8700" y="3179961"/>
            <a:ext cx="161032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163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Raro no dia a dia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62870" y="1911251"/>
            <a:ext cx="1978720" cy="1976041"/>
          </a:xfrm>
          <a:prstGeom prst="roundRect">
            <a:avLst>
              <a:gd name="adj" fmla="val 4820"/>
            </a:avLst>
          </a:prstGeom>
          <a:solidFill>
            <a:srgbClr val="E2F0E0"/>
          </a:solidFill>
          <a:ln w="12700">
            <a:solidFill>
              <a:srgbClr val="4E8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72420" y="2120801"/>
            <a:ext cx="161042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2F6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2xx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172420" y="2837061"/>
            <a:ext cx="16104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Sucesso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72420" y="3179961"/>
            <a:ext cx="161042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Deu certo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06690" y="1911251"/>
            <a:ext cx="1978620" cy="1976041"/>
          </a:xfrm>
          <a:prstGeom prst="roundRect">
            <a:avLst>
              <a:gd name="adj" fmla="val 4820"/>
            </a:avLst>
          </a:prstGeom>
          <a:noFill/>
          <a:ln w="12700">
            <a:solidFill>
              <a:srgbClr val="DDD8CC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16240" y="2120801"/>
            <a:ext cx="161032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6A7182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3xx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316240" y="2837061"/>
            <a:ext cx="161032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1A2A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Redirecionamento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16240" y="3446661"/>
            <a:ext cx="161032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163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Está em outro lugar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50410" y="1911251"/>
            <a:ext cx="1978720" cy="1976041"/>
          </a:xfrm>
          <a:prstGeom prst="roundRect">
            <a:avLst>
              <a:gd name="adj" fmla="val 4820"/>
            </a:avLst>
          </a:prstGeom>
          <a:solidFill>
            <a:srgbClr val="FCE9D8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9960" y="2120801"/>
            <a:ext cx="161042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9A4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4xx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459960" y="2837061"/>
            <a:ext cx="16104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 do cliente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59960" y="3179961"/>
            <a:ext cx="161042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Corrija e tente de novo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394230" y="1911251"/>
            <a:ext cx="1978620" cy="1976041"/>
          </a:xfrm>
          <a:prstGeom prst="roundRect">
            <a:avLst>
              <a:gd name="adj" fmla="val 4820"/>
            </a:avLst>
          </a:prstGeom>
          <a:solidFill>
            <a:srgbClr val="F8DEDA"/>
          </a:solidFill>
          <a:ln w="12700">
            <a:solidFill>
              <a:srgbClr val="C447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3780" y="2120801"/>
            <a:ext cx="161032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9E2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5xx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603780" y="2837061"/>
            <a:ext cx="16103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 do servidor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3780" y="3179961"/>
            <a:ext cx="161032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culpa é nossa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4249241"/>
            <a:ext cx="10883392" cy="676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19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regra de ouro: </a:t>
            </a:r>
            <a:r>
              <a:rPr lang="en-US" sz="19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4xx</a:t>
            </a:r>
            <a:r>
              <a:rPr lang="en-US" sz="19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o cliente pode fazer algo diferente. </a:t>
            </a:r>
            <a:r>
              <a:rPr lang="en-US" sz="19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5xx</a:t>
            </a:r>
            <a:r>
              <a:rPr lang="en-US" sz="19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não adianta repetir igual, o problema está no servidor.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OS DEZ QUE VOCÊ VAI USAR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Status codes do dia a dia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16001"/>
          <a:ext cx="10553700" cy="3951982"/>
        </p:xfrm>
        <a:graphic>
          <a:graphicData uri="http://schemas.openxmlformats.org/drawingml/2006/table">
            <a:tbl>
              <a:tblPr/>
              <a:tblGrid>
                <a:gridCol w="1055370"/>
                <a:gridCol w="2743962"/>
                <a:gridCol w="6754368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5F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Código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5F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Nome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5F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Quando usar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F6B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OK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Leitura ou atualização com sucesso, com corpo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F6B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Created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Criou um recurso (POST). Devolva o recurso e o header Location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F6B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Content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Sucesso sem corpo: DELETE, por exemplo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9A4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Bad Request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Dados inválidos ou JSON malformado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9A4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Unauthorized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Não autenticado: sem token ou token inválido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9A4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Forbidden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Autenticado, mas sem permissão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9A4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Found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Recurso ou rota não existe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9A4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Conflict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Conflito com o estado atual: e-mail já cadastrado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9A4A1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422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Unprocessable Content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Sintaxe ok, mas regra de negócio violada (alternativa ao 400)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9E2F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Internal Server Error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Erro inesperado: bug, banco fora do ar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OS PARES QUE CONFUNDEM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Parecidos, mas não iguais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60451"/>
            <a:ext cx="3373934" cy="4178399"/>
          </a:xfrm>
          <a:prstGeom prst="roundRect">
            <a:avLst>
              <a:gd name="adj" fmla="val 2823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120801"/>
            <a:ext cx="293883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9A4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401 × 403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9500" y="2699841"/>
            <a:ext cx="293883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401: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quem é você? Faça login.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9500" y="3118941"/>
            <a:ext cx="293883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403: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sei quem você é, e você não pode.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08984" y="1860451"/>
            <a:ext cx="3374033" cy="4178399"/>
          </a:xfrm>
          <a:prstGeom prst="roundRect">
            <a:avLst>
              <a:gd name="adj" fmla="val 2823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9334" y="2120801"/>
            <a:ext cx="293893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9A4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400 × 404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69334" y="2699841"/>
            <a:ext cx="293893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 /users/abc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→ 400: o id nem é válido.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9334" y="3385641"/>
            <a:ext cx="293893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 /users/999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→ 404: id válido, não existe.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98916" y="1860451"/>
            <a:ext cx="3373934" cy="4178399"/>
          </a:xfrm>
          <a:prstGeom prst="roundRect">
            <a:avLst>
              <a:gd name="adj" fmla="val 2823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9266" y="2120801"/>
            <a:ext cx="293883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9A4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400 × 409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59266" y="2699841"/>
            <a:ext cx="293883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400: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dado está errado em si.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59266" y="3118941"/>
            <a:ext cx="293883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409: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dado é válido, mas conflita com o que já existe.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NÃO FAÇA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Três anti-padrões clássicos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60451"/>
            <a:ext cx="10553700" cy="1008261"/>
          </a:xfrm>
          <a:prstGeom prst="roundRect">
            <a:avLst>
              <a:gd name="adj" fmla="val 9447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pic>
        <p:nvPicPr>
          <p:cNvPr id="5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9500" y="2186781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89100" y="2070001"/>
            <a:ext cx="970610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200 com erro no corpo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689100" y="2410321"/>
            <a:ext cx="970610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200 { "erro": "Usuário não existe" } obriga o front a ler texto para saber se falhou.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19150" y="3033812"/>
            <a:ext cx="10553700" cy="1008261"/>
          </a:xfrm>
          <a:prstGeom prst="roundRect">
            <a:avLst>
              <a:gd name="adj" fmla="val 9447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pic>
        <p:nvPicPr>
          <p:cNvPr id="9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79500" y="3360142"/>
            <a:ext cx="355600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89100" y="3243362"/>
            <a:ext cx="970610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500 (ou 400) para tudo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1689100" y="3583682"/>
            <a:ext cx="970610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código genérico apaga a informação: o cliente não sabe se corrige o dado, faz login ou espera.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19150" y="4207173"/>
            <a:ext cx="10553700" cy="1008261"/>
          </a:xfrm>
          <a:prstGeom prst="roundRect">
            <a:avLst>
              <a:gd name="adj" fmla="val 9447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pic>
        <p:nvPicPr>
          <p:cNvPr id="13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79500" y="4533503"/>
            <a:ext cx="355600" cy="355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89100" y="4416723"/>
            <a:ext cx="970610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Stack trace na resposta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689100" y="4757043"/>
            <a:ext cx="970610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Mostra caminhos, versões e SQL para qualquer um. Log no servidor, mensagem genérica para o cliente.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88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31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EXERCÍCIO RÁPIDO · 8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 status code?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09961"/>
            <a:ext cx="5283200" cy="579041"/>
          </a:xfrm>
          <a:prstGeom prst="roundRect">
            <a:avLst>
              <a:gd name="adj" fmla="val 13160"/>
            </a:avLst>
          </a:prstGeom>
          <a:solidFill>
            <a:srgbClr val="F6C9A2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062361"/>
            <a:ext cx="502310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</a:t>
            </a:r>
            <a:r>
              <a:rPr lang="en-US" sz="16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Cadastro feito com sucesso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6000" y="1909961"/>
            <a:ext cx="5283200" cy="579041"/>
          </a:xfrm>
          <a:prstGeom prst="roundRect">
            <a:avLst>
              <a:gd name="adj" fmla="val 13160"/>
            </a:avLst>
          </a:prstGeom>
          <a:solidFill>
            <a:srgbClr val="F6C9A2"/>
          </a:solidFill>
          <a:ln/>
        </p:spPr>
      </p:sp>
      <p:sp>
        <p:nvSpPr>
          <p:cNvPr id="7" name="Text 5"/>
          <p:cNvSpPr/>
          <p:nvPr/>
        </p:nvSpPr>
        <p:spPr>
          <a:xfrm>
            <a:off x="6299200" y="2062361"/>
            <a:ext cx="502310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5.</a:t>
            </a:r>
            <a:r>
              <a:rPr lang="en-US" sz="16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Usuário comum tenta apagar outro usuário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" y="2489002"/>
            <a:ext cx="5283200" cy="579041"/>
          </a:xfrm>
          <a:prstGeom prst="roundRect">
            <a:avLst>
              <a:gd name="adj" fmla="val 13160"/>
            </a:avLst>
          </a:prstGeom>
          <a:solidFill>
            <a:srgbClr val="F6C9A2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641402"/>
            <a:ext cx="502310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</a:t>
            </a:r>
            <a:r>
              <a:rPr lang="en-US" sz="16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E-mail já está cadastrado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0" y="2489002"/>
            <a:ext cx="5283200" cy="579041"/>
          </a:xfrm>
          <a:prstGeom prst="roundRect">
            <a:avLst>
              <a:gd name="adj" fmla="val 13160"/>
            </a:avLst>
          </a:prstGeom>
          <a:solidFill>
            <a:srgbClr val="F6C9A2"/>
          </a:solidFill>
          <a:ln/>
        </p:spPr>
      </p:sp>
      <p:sp>
        <p:nvSpPr>
          <p:cNvPr id="11" name="Text 9"/>
          <p:cNvSpPr/>
          <p:nvPr/>
        </p:nvSpPr>
        <p:spPr>
          <a:xfrm>
            <a:off x="6299200" y="2641402"/>
            <a:ext cx="502310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6.</a:t>
            </a:r>
            <a:r>
              <a:rPr lang="en-US" sz="16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banco de dados caiu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" y="3068042"/>
            <a:ext cx="5283200" cy="579041"/>
          </a:xfrm>
          <a:prstGeom prst="roundRect">
            <a:avLst>
              <a:gd name="adj" fmla="val 13160"/>
            </a:avLst>
          </a:prstGeom>
          <a:solidFill>
            <a:srgbClr val="F6C9A2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3220442"/>
            <a:ext cx="502310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</a:t>
            </a:r>
            <a:r>
              <a:rPr lang="en-US" sz="16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Senha com 3 caracteres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0" y="3068042"/>
            <a:ext cx="5283200" cy="579041"/>
          </a:xfrm>
          <a:prstGeom prst="roundRect">
            <a:avLst>
              <a:gd name="adj" fmla="val 13160"/>
            </a:avLst>
          </a:prstGeom>
          <a:solidFill>
            <a:srgbClr val="F6C9A2"/>
          </a:solidFill>
          <a:ln/>
        </p:spPr>
      </p:sp>
      <p:sp>
        <p:nvSpPr>
          <p:cNvPr id="15" name="Text 13"/>
          <p:cNvSpPr/>
          <p:nvPr/>
        </p:nvSpPr>
        <p:spPr>
          <a:xfrm>
            <a:off x="6299200" y="3220442"/>
            <a:ext cx="502310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7.</a:t>
            </a:r>
            <a:r>
              <a:rPr lang="en-US" sz="16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Usuário removido com sucesso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800" y="3647083"/>
            <a:ext cx="5283200" cy="579041"/>
          </a:xfrm>
          <a:prstGeom prst="roundRect">
            <a:avLst>
              <a:gd name="adj" fmla="val 13160"/>
            </a:avLst>
          </a:prstGeom>
          <a:solidFill>
            <a:srgbClr val="F6C9A2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3799483"/>
            <a:ext cx="502310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</a:t>
            </a:r>
            <a:r>
              <a:rPr lang="en-US" sz="16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Listar usuários sem mandar token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96000" y="3647083"/>
            <a:ext cx="5283200" cy="579041"/>
          </a:xfrm>
          <a:prstGeom prst="roundRect">
            <a:avLst>
              <a:gd name="adj" fmla="val 13160"/>
            </a:avLst>
          </a:prstGeom>
          <a:solidFill>
            <a:srgbClr val="F6C9A2"/>
          </a:solidFill>
          <a:ln/>
        </p:spPr>
      </p:sp>
      <p:sp>
        <p:nvSpPr>
          <p:cNvPr id="19" name="Text 17"/>
          <p:cNvSpPr/>
          <p:nvPr/>
        </p:nvSpPr>
        <p:spPr>
          <a:xfrm>
            <a:off x="6299200" y="3799483"/>
            <a:ext cx="502310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8.</a:t>
            </a:r>
            <a:r>
              <a:rPr lang="en-US" sz="16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GET /users/999, e o 999 não existe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RESPOSTAS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 status code?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60451"/>
            <a:ext cx="5270500" cy="586680"/>
          </a:xfrm>
          <a:prstGeom prst="roundRect">
            <a:avLst>
              <a:gd name="adj" fmla="val 11906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3300" y="1993801"/>
            <a:ext cx="7493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F6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54200" y="2033786"/>
            <a:ext cx="4172839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Cadastro feito com sucesso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02350" y="1860451"/>
            <a:ext cx="5270500" cy="586680"/>
          </a:xfrm>
          <a:prstGeom prst="roundRect">
            <a:avLst>
              <a:gd name="adj" fmla="val 11906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86500" y="1993801"/>
            <a:ext cx="7493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9A4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7400" y="2033786"/>
            <a:ext cx="4172839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5. Comum apagando outro usuário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9150" y="2459831"/>
            <a:ext cx="5270500" cy="586680"/>
          </a:xfrm>
          <a:prstGeom prst="roundRect">
            <a:avLst>
              <a:gd name="adj" fmla="val 11906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3300" y="2593181"/>
            <a:ext cx="7493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9A4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409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54200" y="2633166"/>
            <a:ext cx="4172839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E-mail já cadastrado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02350" y="2459831"/>
            <a:ext cx="5270500" cy="586680"/>
          </a:xfrm>
          <a:prstGeom prst="roundRect">
            <a:avLst>
              <a:gd name="adj" fmla="val 11906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6500" y="2593181"/>
            <a:ext cx="7493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9E2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37400" y="2633166"/>
            <a:ext cx="4172839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6. Banco caiu (ou 503)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9150" y="3059212"/>
            <a:ext cx="5270500" cy="586680"/>
          </a:xfrm>
          <a:prstGeom prst="roundRect">
            <a:avLst>
              <a:gd name="adj" fmla="val 11906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3300" y="3192562"/>
            <a:ext cx="7493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9A4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54200" y="3232547"/>
            <a:ext cx="4172839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Senha curta (ou 422)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02350" y="3059212"/>
            <a:ext cx="5270500" cy="586680"/>
          </a:xfrm>
          <a:prstGeom prst="roundRect">
            <a:avLst>
              <a:gd name="adj" fmla="val 11906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6500" y="3192562"/>
            <a:ext cx="7493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F6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37400" y="3232547"/>
            <a:ext cx="4172839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7. Removido com sucesso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9150" y="3658592"/>
            <a:ext cx="5270500" cy="586680"/>
          </a:xfrm>
          <a:prstGeom prst="roundRect">
            <a:avLst>
              <a:gd name="adj" fmla="val 11906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3300" y="3791942"/>
            <a:ext cx="7493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9A4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854200" y="3831927"/>
            <a:ext cx="4172839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 Listar sem token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02350" y="3658592"/>
            <a:ext cx="5270500" cy="586680"/>
          </a:xfrm>
          <a:prstGeom prst="roundRect">
            <a:avLst>
              <a:gd name="adj" fmla="val 11906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6500" y="3791942"/>
            <a:ext cx="7493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9A4A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37400" y="3831927"/>
            <a:ext cx="4172839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8. GET /users/999 inexistente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3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39950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800" y="335915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Erros padronizados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36245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9C1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Onde DTO e status code se encontram · 15 min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 TAMBÉM É CONTRATO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único formato para todo erro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101"/>
            <a:ext cx="6049665" cy="3429000"/>
          </a:xfrm>
          <a:prstGeom prst="roundRect">
            <a:avLst>
              <a:gd name="adj" fmla="val 2963"/>
            </a:avLst>
          </a:prstGeom>
          <a:solidFill>
            <a:srgbClr val="1B2233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082701"/>
            <a:ext cx="5707915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8E97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 400 Bad Request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"status": 400,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"code": </a:t>
            </a:r>
            <a:r>
              <a:rPr lang="en-US" sz="130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"VALIDATION_ERROR"</a:t>
            </a: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"message": </a:t>
            </a:r>
            <a:r>
              <a:rPr lang="en-US" sz="130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"Dados inválidos"</a:t>
            </a: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"details": [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{ "field": </a:t>
            </a:r>
            <a:r>
              <a:rPr lang="en-US" sz="130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"email"</a:t>
            </a: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"message": </a:t>
            </a:r>
            <a:r>
              <a:rPr lang="en-US" sz="130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"E-mail inválido"</a:t>
            </a: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],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"path": </a:t>
            </a:r>
            <a:r>
              <a:rPr lang="en-US" sz="130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"/users"</a:t>
            </a: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"timestamp": </a:t>
            </a:r>
            <a:r>
              <a:rPr lang="en-US" sz="130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"2026-09-28T12:32:36Z"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16465" y="2537420"/>
            <a:ext cx="439061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</a:t>
            </a:r>
            <a:r>
              <a:rPr lang="en-US" sz="16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estável, para o front tratar com if. A mensagem pode mudar; o código não.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16465" y="3284141"/>
            <a:ext cx="439061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details</a:t>
            </a:r>
            <a:r>
              <a:rPr lang="en-US" sz="16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um item por campo, pronto para pintar o formulário de vermelho.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16465" y="4030861"/>
            <a:ext cx="439061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stack trace</a:t>
            </a:r>
            <a:r>
              <a:rPr lang="en-US" sz="16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sem SQL, sem caminho de arquivo.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ERRORS/APPERROR.JS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Erros que já sabem seu status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101"/>
            <a:ext cx="6541492" cy="4029075"/>
          </a:xfrm>
          <a:prstGeom prst="roundRect">
            <a:avLst>
              <a:gd name="adj" fmla="val 2522"/>
            </a:avLst>
          </a:prstGeom>
          <a:solidFill>
            <a:srgbClr val="1B2233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082701"/>
            <a:ext cx="6214497" cy="3597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</a:t>
            </a: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AppError </a:t>
            </a:r>
            <a:r>
              <a:rPr lang="en-US" sz="125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extends</a:t>
            </a: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Error {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constructor(statusCode, code, message, details) {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25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super</a:t>
            </a: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(message);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25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this</a:t>
            </a: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.statusCode = statusCode;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25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this</a:t>
            </a: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.code = code;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25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this</a:t>
            </a: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.details = details;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}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</a:t>
            </a: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NotFoundError </a:t>
            </a:r>
            <a:r>
              <a:rPr lang="en-US" sz="125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extends</a:t>
            </a: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AppError {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constructor(resource = </a:t>
            </a:r>
            <a:r>
              <a:rPr lang="en-US" sz="125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'Recurso'</a:t>
            </a: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{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25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super</a:t>
            </a: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(404, </a:t>
            </a:r>
            <a:r>
              <a:rPr lang="en-US" sz="125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'NOT_FOUND'</a:t>
            </a: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25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`${resource} não encontrado`</a:t>
            </a: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}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8E97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ConflictError → 409 · ValidationError → 400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08292" y="2740918"/>
            <a:ext cx="388403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</a:t>
            </a:r>
            <a:r>
              <a:rPr lang="en-US" sz="16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</a:t>
            </a:r>
            <a:r>
              <a:rPr lang="en-US" sz="16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lança erros de domínio. Ele não conhece req, res nem HTTP.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08292" y="3487638"/>
            <a:ext cx="3770908" cy="762000"/>
          </a:xfrm>
          <a:prstGeom prst="roundRect">
            <a:avLst>
              <a:gd name="adj" fmla="val 10000"/>
            </a:avLst>
          </a:prstGeom>
          <a:solidFill>
            <a:srgbClr val="1B2233"/>
          </a:solidFill>
          <a:ln/>
        </p:spPr>
      </p:sp>
      <p:sp>
        <p:nvSpPr>
          <p:cNvPr id="8" name="Text 6"/>
          <p:cNvSpPr/>
          <p:nvPr/>
        </p:nvSpPr>
        <p:spPr>
          <a:xfrm>
            <a:off x="7786092" y="3640038"/>
            <a:ext cx="351776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r>
              <a:rPr lang="en-US" sz="12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(!user)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20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throw new</a:t>
            </a:r>
            <a:r>
              <a:rPr lang="en-US" sz="12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NotFoundError(</a:t>
            </a:r>
            <a:r>
              <a:rPr lang="en-US" sz="120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'Usuário'</a:t>
            </a:r>
            <a:r>
              <a:rPr lang="en-US" sz="12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08292" y="4427438"/>
            <a:ext cx="388403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classe por </a:t>
            </a:r>
            <a:r>
              <a:rPr lang="en-US" sz="16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tipo</a:t>
            </a:r>
            <a:r>
              <a:rPr lang="en-US" sz="16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erro, não por mensagem.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5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MIDDLEWARES/ERRORHANDLER.JS</a:t>
            </a:r>
            <a:endParaRPr lang="en-US" sz="1196" dirty="0"/>
          </a:p>
        </p:txBody>
      </p:sp>
      <p:sp>
        <p:nvSpPr>
          <p:cNvPr id="3" name="Text 1"/>
          <p:cNvSpPr/>
          <p:nvPr/>
        </p:nvSpPr>
        <p:spPr>
          <a:xfrm>
            <a:off x="812800" y="1098649"/>
            <a:ext cx="10883392" cy="464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único lugar vira erro em resposta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812800" y="1842790"/>
            <a:ext cx="6681093" cy="4202410"/>
          </a:xfrm>
          <a:prstGeom prst="roundRect">
            <a:avLst>
              <a:gd name="adj" fmla="val 2418"/>
            </a:avLst>
          </a:prstGeom>
          <a:solidFill>
            <a:srgbClr val="1B2233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071390"/>
            <a:ext cx="6358286" cy="3770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9"/>
              </a:lnSpc>
              <a:buNone/>
            </a:pPr>
            <a:r>
              <a:rPr lang="en-US" sz="1246" dirty="0">
                <a:solidFill>
                  <a:srgbClr val="8E97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4 parâmetros = error handler para o Express</a:t>
            </a:r>
            <a:endParaRPr lang="en-US" sz="1246" dirty="0"/>
          </a:p>
          <a:p>
            <a:pPr algn="l" indent="0" marL="0">
              <a:lnSpc>
                <a:spcPts val="1869"/>
              </a:lnSpc>
              <a:buNone/>
            </a:pPr>
            <a:r>
              <a:rPr lang="en-US" sz="1246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</a:t>
            </a:r>
            <a:r>
              <a:rPr lang="en-US" sz="1246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errorHandler(err, req, res, next) {</a:t>
            </a:r>
            <a:endParaRPr lang="en-US" sz="1246" dirty="0"/>
          </a:p>
          <a:p>
            <a:pPr algn="l" indent="0" marL="0">
              <a:lnSpc>
                <a:spcPts val="1869"/>
              </a:lnSpc>
              <a:buNone/>
            </a:pPr>
            <a:r>
              <a:rPr lang="en-US" sz="1246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246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r>
              <a:rPr lang="en-US" sz="1246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(err </a:t>
            </a:r>
            <a:r>
              <a:rPr lang="en-US" sz="1246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instanceof</a:t>
            </a:r>
            <a:r>
              <a:rPr lang="en-US" sz="1246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AppError) {</a:t>
            </a:r>
            <a:endParaRPr lang="en-US" sz="1246" dirty="0"/>
          </a:p>
          <a:p>
            <a:pPr algn="l" indent="0" marL="0">
              <a:lnSpc>
                <a:spcPts val="1869"/>
              </a:lnSpc>
              <a:buNone/>
            </a:pPr>
            <a:r>
              <a:rPr lang="en-US" sz="1246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246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1246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res.status(err.statusCode).json({</a:t>
            </a:r>
            <a:endParaRPr lang="en-US" sz="1246" dirty="0"/>
          </a:p>
          <a:p>
            <a:pPr algn="l" indent="0" marL="0">
              <a:lnSpc>
                <a:spcPts val="1869"/>
              </a:lnSpc>
              <a:buNone/>
            </a:pPr>
            <a:r>
              <a:rPr lang="en-US" sz="1246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status: err.statusCode, code: err.code,</a:t>
            </a:r>
            <a:endParaRPr lang="en-US" sz="1246" dirty="0"/>
          </a:p>
          <a:p>
            <a:pPr algn="l" indent="0" marL="0">
              <a:lnSpc>
                <a:spcPts val="1869"/>
              </a:lnSpc>
              <a:buNone/>
            </a:pPr>
            <a:r>
              <a:rPr lang="en-US" sz="1246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message: err.message, details: err.details,</a:t>
            </a:r>
            <a:endParaRPr lang="en-US" sz="1246" dirty="0"/>
          </a:p>
          <a:p>
            <a:pPr algn="l" indent="0" marL="0">
              <a:lnSpc>
                <a:spcPts val="1869"/>
              </a:lnSpc>
              <a:buNone/>
            </a:pPr>
            <a:r>
              <a:rPr lang="en-US" sz="1246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path: req.originalUrl, timestamp: </a:t>
            </a:r>
            <a:r>
              <a:rPr lang="en-US" sz="1246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</a:t>
            </a:r>
            <a:r>
              <a:rPr lang="en-US" sz="1246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Date().toISOString(),</a:t>
            </a:r>
            <a:endParaRPr lang="en-US" sz="1246" dirty="0"/>
          </a:p>
          <a:p>
            <a:pPr algn="l" indent="0" marL="0">
              <a:lnSpc>
                <a:spcPts val="1869"/>
              </a:lnSpc>
              <a:buNone/>
            </a:pPr>
            <a:r>
              <a:rPr lang="en-US" sz="1246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});</a:t>
            </a:r>
            <a:endParaRPr lang="en-US" sz="1246" dirty="0"/>
          </a:p>
          <a:p>
            <a:pPr algn="l" indent="0" marL="0">
              <a:lnSpc>
                <a:spcPts val="1869"/>
              </a:lnSpc>
              <a:buNone/>
            </a:pPr>
            <a:r>
              <a:rPr lang="en-US" sz="1246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}</a:t>
            </a:r>
            <a:endParaRPr lang="en-US" sz="1246" dirty="0"/>
          </a:p>
          <a:p>
            <a:pPr algn="l" indent="0" marL="0">
              <a:lnSpc>
                <a:spcPts val="1869"/>
              </a:lnSpc>
              <a:buNone/>
            </a:pPr>
            <a:r>
              <a:rPr lang="en-US" sz="1246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console.error(err); </a:t>
            </a:r>
            <a:r>
              <a:rPr lang="en-US" sz="1246" dirty="0">
                <a:solidFill>
                  <a:srgbClr val="8E97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detalhe fica no log</a:t>
            </a:r>
            <a:endParaRPr lang="en-US" sz="1246" dirty="0"/>
          </a:p>
          <a:p>
            <a:pPr algn="l" indent="0" marL="0">
              <a:lnSpc>
                <a:spcPts val="1869"/>
              </a:lnSpc>
              <a:buNone/>
            </a:pPr>
            <a:r>
              <a:rPr lang="en-US" sz="1246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res.status(500).json({</a:t>
            </a:r>
            <a:endParaRPr lang="en-US" sz="1246" dirty="0"/>
          </a:p>
          <a:p>
            <a:pPr algn="l" indent="0" marL="0">
              <a:lnSpc>
                <a:spcPts val="1869"/>
              </a:lnSpc>
              <a:buNone/>
            </a:pPr>
            <a:r>
              <a:rPr lang="en-US" sz="1246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status: 500, code: </a:t>
            </a:r>
            <a:r>
              <a:rPr lang="en-US" sz="1246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'INTERNAL_ERROR'</a:t>
            </a:r>
            <a:r>
              <a:rPr lang="en-US" sz="1246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246" dirty="0"/>
          </a:p>
          <a:p>
            <a:pPr algn="l" indent="0" marL="0">
              <a:lnSpc>
                <a:spcPts val="1869"/>
              </a:lnSpc>
              <a:buNone/>
            </a:pPr>
            <a:r>
              <a:rPr lang="en-US" sz="1246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message: </a:t>
            </a:r>
            <a:r>
              <a:rPr lang="en-US" sz="1246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'Erro interno no servidor'</a:t>
            </a:r>
            <a:r>
              <a:rPr lang="en-US" sz="1246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...</a:t>
            </a:r>
            <a:endParaRPr lang="en-US" sz="1246" dirty="0"/>
          </a:p>
          <a:p>
            <a:pPr algn="l" indent="0" marL="0">
              <a:lnSpc>
                <a:spcPts val="1869"/>
              </a:lnSpc>
              <a:buNone/>
            </a:pPr>
            <a:r>
              <a:rPr lang="en-US" sz="1246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});</a:t>
            </a:r>
            <a:endParaRPr lang="en-US" sz="1246" dirty="0"/>
          </a:p>
          <a:p>
            <a:pPr algn="l" indent="0" marL="0">
              <a:lnSpc>
                <a:spcPts val="1869"/>
              </a:lnSpc>
              <a:buNone/>
            </a:pPr>
            <a:r>
              <a:rPr lang="en-US" sz="1246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46" dirty="0"/>
          </a:p>
        </p:txBody>
      </p:sp>
      <p:sp>
        <p:nvSpPr>
          <p:cNvPr id="6" name="Shape 4"/>
          <p:cNvSpPr/>
          <p:nvPr/>
        </p:nvSpPr>
        <p:spPr>
          <a:xfrm>
            <a:off x="7747893" y="2648545"/>
            <a:ext cx="3631307" cy="1219200"/>
          </a:xfrm>
          <a:prstGeom prst="roundRect">
            <a:avLst>
              <a:gd name="adj" fmla="val 6250"/>
            </a:avLst>
          </a:prstGeom>
          <a:solidFill>
            <a:srgbClr val="1B2233"/>
          </a:solidFill>
          <a:ln/>
        </p:spPr>
      </p:sp>
      <p:sp>
        <p:nvSpPr>
          <p:cNvPr id="7" name="Text 5"/>
          <p:cNvSpPr/>
          <p:nvPr/>
        </p:nvSpPr>
        <p:spPr>
          <a:xfrm>
            <a:off x="7925693" y="2800945"/>
            <a:ext cx="3373978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E97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app.js, no FINAL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app.use(</a:t>
            </a:r>
            <a:r>
              <a:rPr lang="en-US" sz="1200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'/users'</a:t>
            </a:r>
            <a:r>
              <a:rPr lang="en-US" sz="12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userRoutes);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app.use(notFoundRoute);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app.use(errorHandler);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47893" y="4020145"/>
            <a:ext cx="374024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</a:t>
            </a:r>
            <a:r>
              <a:rPr lang="en-US" sz="15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ordem importa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rotas, depois 404 de rota, depois o handler.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47893" y="4705945"/>
            <a:ext cx="374024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 conhecido: status do AppError. Desconhecido: </a:t>
            </a:r>
            <a:r>
              <a:rPr lang="en-US" sz="15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500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genérico.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5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CONTROLLERS/USER.CONTROLLER.JS</a:t>
            </a:r>
            <a:endParaRPr lang="en-US" sz="1196" dirty="0"/>
          </a:p>
        </p:txBody>
      </p:sp>
      <p:sp>
        <p:nvSpPr>
          <p:cNvPr id="3" name="Text 1"/>
          <p:cNvSpPr/>
          <p:nvPr/>
        </p:nvSpPr>
        <p:spPr>
          <a:xfrm>
            <a:off x="812800" y="1098649"/>
            <a:ext cx="10883392" cy="464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controller fica limpo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812800" y="1842790"/>
            <a:ext cx="6541492" cy="4202410"/>
          </a:xfrm>
          <a:prstGeom prst="roundRect">
            <a:avLst>
              <a:gd name="adj" fmla="val 2418"/>
            </a:avLst>
          </a:prstGeom>
          <a:solidFill>
            <a:srgbClr val="1B2233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071390"/>
            <a:ext cx="6214497" cy="3770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227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async</a:t>
            </a: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create(req, res) {</a:t>
            </a: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227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user = </a:t>
            </a:r>
            <a:r>
              <a:rPr lang="en-US" sz="1227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userService.create(req.body);</a:t>
            </a: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res.status(</a:t>
            </a:r>
            <a:r>
              <a:rPr lang="en-US" sz="1227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201</a:t>
            </a: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.location(</a:t>
            </a:r>
            <a:r>
              <a:rPr lang="en-US" sz="1227" dirty="0">
                <a:solidFill>
                  <a:srgbClr val="9FD4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`/users/${user.id}`</a:t>
            </a: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.json(toUserResponseDTO(user));</a:t>
            </a: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},</a:t>
            </a: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r>
              <a:rPr lang="en-US" sz="1227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async</a:t>
            </a: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getById(req, res) {</a:t>
            </a: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227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user = </a:t>
            </a:r>
            <a:r>
              <a:rPr lang="en-US" sz="1227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userService.getById(req.params.id);</a:t>
            </a: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res.status(</a:t>
            </a:r>
            <a:r>
              <a:rPr lang="en-US" sz="1227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</a:t>
            </a: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).json(toUserResponseDTO(user));</a:t>
            </a: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},</a:t>
            </a: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r>
              <a:rPr lang="en-US" sz="1227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async</a:t>
            </a: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remove(req, res) {</a:t>
            </a: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227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userService.remove(req.params.id);</a:t>
            </a: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res.status(</a:t>
            </a:r>
            <a:r>
              <a:rPr lang="en-US" sz="1227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204</a:t>
            </a: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).end();</a:t>
            </a:r>
            <a:endParaRPr lang="en-US" sz="1227" dirty="0"/>
          </a:p>
          <a:p>
            <a:pPr algn="l" indent="0" marL="0">
              <a:lnSpc>
                <a:spcPts val="1840"/>
              </a:lnSpc>
              <a:buNone/>
            </a:pPr>
            <a:r>
              <a:rPr lang="en-US" sz="1227" dirty="0">
                <a:solidFill>
                  <a:srgbClr val="E6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},</a:t>
            </a:r>
            <a:endParaRPr lang="en-US" sz="1227" dirty="0"/>
          </a:p>
        </p:txBody>
      </p:sp>
      <p:sp>
        <p:nvSpPr>
          <p:cNvPr id="6" name="Text 4"/>
          <p:cNvSpPr/>
          <p:nvPr/>
        </p:nvSpPr>
        <p:spPr>
          <a:xfrm>
            <a:off x="7608292" y="3143945"/>
            <a:ext cx="3884035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Nenhum try/catch.</a:t>
            </a:r>
            <a:r>
              <a:rPr lang="en-US" sz="16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Express 5 repassa erros de funções async direto para o handler.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08292" y="4175125"/>
            <a:ext cx="388403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controller escolhe só o </a:t>
            </a:r>
            <a:r>
              <a:rPr lang="en-US" sz="16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status de sucesso</a:t>
            </a:r>
            <a:r>
              <a:rPr lang="en-US" sz="16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aplica o </a:t>
            </a:r>
            <a:r>
              <a:rPr lang="en-US" sz="16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DTO de saída</a:t>
            </a:r>
            <a:r>
              <a:rPr lang="en-US" sz="16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JUNTANDO TUDO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caminho de uma requisição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419350"/>
            <a:ext cx="1765300" cy="749300"/>
          </a:xfrm>
          <a:prstGeom prst="roundRect">
            <a:avLst>
              <a:gd name="adj" fmla="val 12712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020" y="2669580"/>
            <a:ext cx="122435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1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 /users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78150" y="2419350"/>
            <a:ext cx="1765300" cy="749300"/>
          </a:xfrm>
          <a:prstGeom prst="roundRect">
            <a:avLst>
              <a:gd name="adj" fmla="val 12712"/>
            </a:avLst>
          </a:prstGeom>
          <a:solidFill>
            <a:srgbClr val="FCE9D8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16870" y="2678410"/>
            <a:ext cx="133865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7A3A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validate(DTO)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37150" y="2419350"/>
            <a:ext cx="1765300" cy="749300"/>
          </a:xfrm>
          <a:prstGeom prst="roundRect">
            <a:avLst>
              <a:gd name="adj" fmla="val 12712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2669580"/>
            <a:ext cx="11176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1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296150" y="2419350"/>
            <a:ext cx="1765300" cy="749300"/>
          </a:xfrm>
          <a:prstGeom prst="roundRect">
            <a:avLst>
              <a:gd name="adj" fmla="val 12712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05341" y="2669580"/>
            <a:ext cx="79762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1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455150" y="2419350"/>
            <a:ext cx="1765300" cy="749300"/>
          </a:xfrm>
          <a:prstGeom prst="roundRect">
            <a:avLst>
              <a:gd name="adj" fmla="val 12712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04400" y="2669580"/>
            <a:ext cx="11176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1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repository</a:t>
            </a:r>
            <a:endParaRPr lang="en-US" sz="1400" dirty="0"/>
          </a:p>
        </p:txBody>
      </p:sp>
      <p:pic>
        <p:nvPicPr>
          <p:cNvPr id="14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40000" y="2743200"/>
            <a:ext cx="482600" cy="101600"/>
          </a:xfrm>
          <a:prstGeom prst="rect">
            <a:avLst/>
          </a:prstGeom>
        </p:spPr>
      </p:pic>
      <p:pic>
        <p:nvPicPr>
          <p:cNvPr id="15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99000" y="2743200"/>
            <a:ext cx="482600" cy="101600"/>
          </a:xfrm>
          <a:prstGeom prst="rect">
            <a:avLst/>
          </a:prstGeom>
        </p:spPr>
      </p:pic>
      <p:pic>
        <p:nvPicPr>
          <p:cNvPr id="16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0" y="2743200"/>
            <a:ext cx="482600" cy="101600"/>
          </a:xfrm>
          <a:prstGeom prst="rect">
            <a:avLst/>
          </a:prstGeom>
        </p:spPr>
      </p:pic>
      <p:pic>
        <p:nvPicPr>
          <p:cNvPr id="17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17000" y="2743200"/>
            <a:ext cx="482600" cy="101600"/>
          </a:xfrm>
          <a:prstGeom prst="rect">
            <a:avLst/>
          </a:prstGeom>
        </p:spPr>
      </p:pic>
      <p:pic>
        <p:nvPicPr>
          <p:cNvPr id="18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810000" y="3124200"/>
            <a:ext cx="101600" cy="1371600"/>
          </a:xfrm>
          <a:prstGeom prst="rect">
            <a:avLst/>
          </a:prstGeom>
        </p:spPr>
      </p:pic>
      <p:pic>
        <p:nvPicPr>
          <p:cNvPr id="19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28000" y="3124200"/>
            <a:ext cx="101600" cy="13716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987800" y="3619500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E2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ValidationError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8305800" y="3556000"/>
            <a:ext cx="300863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E2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NotFoundError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E2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ConflictError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2971800" y="4445000"/>
            <a:ext cx="6096000" cy="698500"/>
          </a:xfrm>
          <a:prstGeom prst="roundRect">
            <a:avLst>
              <a:gd name="adj" fmla="val 14545"/>
            </a:avLst>
          </a:prstGeom>
          <a:solidFill>
            <a:srgbClr val="1B2233"/>
          </a:solidFill>
          <a:ln/>
        </p:spPr>
      </p:sp>
      <p:sp>
        <p:nvSpPr>
          <p:cNvPr id="23" name="Text 15"/>
          <p:cNvSpPr/>
          <p:nvPr/>
        </p:nvSpPr>
        <p:spPr>
          <a:xfrm>
            <a:off x="3600351" y="4651970"/>
            <a:ext cx="498406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errorHandler</a:t>
            </a:r>
            <a:r>
              <a:rPr lang="en-US" sz="160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→ 400 · 404 · 409 · 500 + JSON padrão</a:t>
            </a: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812800" y="54610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6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Caminho feliz:</a:t>
            </a:r>
            <a:r>
              <a:rPr lang="en-US" sz="1500" dirty="0">
                <a:solidFill>
                  <a:srgbClr val="2F6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controller responde 201 / 200 / 204 com toUserResponseDTO(entidade)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3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39950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800" y="335915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Mão na massa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36245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9C1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antes × depois e refactor do CRUD da turma · 20 min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REQUESTS.HTTP · PORTAS 3000 E 3001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Mesma requisição, outra API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16001"/>
          <a:ext cx="10553700" cy="2874169"/>
        </p:xfrm>
        <a:graphic>
          <a:graphicData uri="http://schemas.openxmlformats.org/drawingml/2006/table">
            <a:tbl>
              <a:tblPr/>
              <a:tblGrid>
                <a:gridCol w="3166110"/>
                <a:gridCol w="3693795"/>
                <a:gridCol w="3693795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5F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Requisição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5F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Antes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5F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Depois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POST com "role": "admin"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9E2F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200, virou admin, senha na resposta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F6B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201 + Location, role ignorado, sem senha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1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POST com dados inválidos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9E2F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200, salvou lixo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F6B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400 com details por campo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POST com e-mail repetido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9E2F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200, duplicou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F6B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409 EMAIL_IN_USE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GET /users/999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9E2F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200 { "erro": ... }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F6B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404 NOT_FOUND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GET /users/abc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9E2F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200 { "erro": ... }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F6B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400 "id deve ser numérico"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DELETE /users/1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9E2F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200 { "ok": true }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F6B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204, sem corpo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31A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GET /produtos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9E2F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404 em HTML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F6B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404 ROUTE_NOT_FOUND em JSON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EXERCICIO.MD · 15 MIN + TAREFA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Refatore o CRUD das aulas anteriores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60451"/>
            <a:ext cx="5181600" cy="1531342"/>
          </a:xfrm>
          <a:prstGeom prst="roundRect">
            <a:avLst>
              <a:gd name="adj" fmla="val 6220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4100" y="2070001"/>
            <a:ext cx="48530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4100" y="2346821"/>
            <a:ext cx="485305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Mapper de saída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4100" y="2684562"/>
            <a:ext cx="4853051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Nenhuma rota devolve a entidade do ORM: tudo passa pelo mapper.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91250" y="1860451"/>
            <a:ext cx="5181600" cy="1531342"/>
          </a:xfrm>
          <a:prstGeom prst="roundRect">
            <a:avLst>
              <a:gd name="adj" fmla="val 6220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6200" y="2070001"/>
            <a:ext cx="48530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PARTE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26200" y="2346821"/>
            <a:ext cx="485305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DTOs de entrada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26200" y="2684562"/>
            <a:ext cx="485305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Schemas Zod + validate no POST, PATCH e :id.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9150" y="3582293"/>
            <a:ext cx="5181600" cy="1282502"/>
          </a:xfrm>
          <a:prstGeom prst="roundRect">
            <a:avLst>
              <a:gd name="adj" fmla="val 7427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4100" y="3791843"/>
            <a:ext cx="48530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PARTE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4100" y="4068663"/>
            <a:ext cx="485305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Status codes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4100" y="4406404"/>
            <a:ext cx="485305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Preencha a tabela do exercício e ajuste cada rota.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1250" y="3582293"/>
            <a:ext cx="5181600" cy="1282502"/>
          </a:xfrm>
          <a:prstGeom prst="roundRect">
            <a:avLst>
              <a:gd name="adj" fmla="val 7427"/>
            </a:avLst>
          </a:prstGeom>
          <a:solidFill>
            <a:srgbClr val="FDFCF9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6200" y="3791843"/>
            <a:ext cx="48530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PARTE 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6200" y="4068663"/>
            <a:ext cx="485305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Erros padronizados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26200" y="4406404"/>
            <a:ext cx="485305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AppError + errorHandler; controller sem try/catch.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5175945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Terminou?</a:t>
            </a:r>
            <a:r>
              <a:rPr lang="en-US" sz="1500" dirty="0">
                <a:solidFill>
                  <a:srgbClr val="4A51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Desafios: unique constraint do ORM vira 409, paginação com DTO de query, rota de troca de senha.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85A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 LEVAR PARA TODO PROJETO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Checklist de uma rota bem feita</a:t>
            </a:r>
            <a:endParaRPr lang="en-US" sz="3200" dirty="0"/>
          </a:p>
        </p:txBody>
      </p:sp>
      <p:pic>
        <p:nvPicPr>
          <p:cNvPr id="4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854101"/>
            <a:ext cx="304800" cy="30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5400" y="1866205"/>
            <a:ext cx="6307086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 entrada (body, params, query) passa por um DTO validado</a:t>
            </a:r>
            <a:endParaRPr lang="en-US" sz="1700" dirty="0"/>
          </a:p>
        </p:txBody>
      </p:sp>
      <p:pic>
        <p:nvPicPr>
          <p:cNvPr id="6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2336701"/>
            <a:ext cx="304800" cy="304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95400" y="2348805"/>
            <a:ext cx="5589981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 saída passa por um mapper, nunca a entidade crua</a:t>
            </a:r>
            <a:endParaRPr lang="en-US" sz="1700" dirty="0"/>
          </a:p>
        </p:txBody>
      </p:sp>
      <p:pic>
        <p:nvPicPr>
          <p:cNvPr id="8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2819301"/>
            <a:ext cx="304800" cy="3048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95400" y="2831405"/>
            <a:ext cx="5814096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status de sucesso diz o que aconteceu: 200, 201 ou 204</a:t>
            </a:r>
            <a:endParaRPr lang="en-US" sz="1700" dirty="0"/>
          </a:p>
        </p:txBody>
      </p:sp>
      <p:pic>
        <p:nvPicPr>
          <p:cNvPr id="10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3301901"/>
            <a:ext cx="304800" cy="3048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95400" y="3314005"/>
            <a:ext cx="5289323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 do cliente é 4xx; 500 só para o que é inesperado</a:t>
            </a:r>
            <a:endParaRPr lang="en-US" sz="1700" dirty="0"/>
          </a:p>
        </p:txBody>
      </p:sp>
      <p:pic>
        <p:nvPicPr>
          <p:cNvPr id="12" name="Image 4" descr="CheckCircl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2800" y="3784501"/>
            <a:ext cx="304800" cy="3048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95400" y="3796605"/>
            <a:ext cx="5525496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Todo erro sai no mesmo formato JSON, sem stack trace</a:t>
            </a:r>
            <a:endParaRPr lang="en-US" sz="1700" dirty="0"/>
          </a:p>
        </p:txBody>
      </p:sp>
      <p:pic>
        <p:nvPicPr>
          <p:cNvPr id="14" name="Image 5" descr="CheckCircl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2800" y="4267101"/>
            <a:ext cx="304800" cy="3048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295400" y="4279205"/>
            <a:ext cx="6088695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31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service lança erros de domínio; só o handler conhece HTTP</a:t>
            </a:r>
            <a:endParaRPr lang="en-US" sz="1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3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F2A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RESUMO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298700"/>
            <a:ext cx="1088339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8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DTO</a:t>
            </a:r>
            <a:r>
              <a:rPr lang="en-US" sz="280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define o </a:t>
            </a:r>
            <a:r>
              <a:rPr lang="en-US" sz="28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formato</a:t>
            </a:r>
            <a:r>
              <a:rPr lang="en-US" sz="280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do que entra e sai.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3014960"/>
            <a:ext cx="1088339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8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Status code</a:t>
            </a:r>
            <a:r>
              <a:rPr lang="en-US" sz="280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define o </a:t>
            </a:r>
            <a:r>
              <a:rPr lang="en-US" sz="28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significado</a:t>
            </a:r>
            <a:r>
              <a:rPr lang="en-US" sz="280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da resposta.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3731220"/>
            <a:ext cx="1088339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800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 padronizado</a:t>
            </a:r>
            <a:r>
              <a:rPr lang="en-US" sz="280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é os dois juntos.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12800" y="5430540"/>
            <a:ext cx="10883392" cy="64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Dúvidas?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DTOs e Status Codes com Express</dc:title>
  <dc:subject>PptxGenJS Presentation</dc:subject>
  <dc:creator>PptxGenJS</dc:creator>
  <cp:lastModifiedBy>PptxGenJS</cp:lastModifiedBy>
  <cp:revision>1</cp:revision>
  <dcterms:created xsi:type="dcterms:W3CDTF">2026-09-28T21:51:50Z</dcterms:created>
  <dcterms:modified xsi:type="dcterms:W3CDTF">2026-09-28T21:51:50Z</dcterms:modified>
</cp:coreProperties>
</file>