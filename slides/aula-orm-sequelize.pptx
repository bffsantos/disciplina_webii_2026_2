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72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F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A3E42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06240"/>
            <a:ext cx="4572000" cy="4572000"/>
          </a:xfrm>
          <a:prstGeom prst="ellipse">
            <a:avLst/>
          </a:prstGeom>
          <a:solidFill>
            <a:srgbClr val="0A3E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PROGRAMAÇÃO BACKEND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parte, vamos falar sobre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 página como guia enquanto apresenta a teoria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clássico sem ORM e os problemas que ele expõe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66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1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Impedância objeto-relacional: por que os dois mundos não se falam bem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468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 de ORM e o que ele promete resolver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926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tempo: de TopLink (1997) ao Prisma (2020+)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83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ORM traduz seu código em SQL por baixo dos panos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0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Record vs. Data Mapper: dois jeitos de organizar um ORM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297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comprovadas e armadilhas reais (N+1, leaky abstraction)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754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ORMs em outras linguagens e por que Sequelize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definir ORM: sentindo a 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CRUD de usuário com sqlite3 puro — sem nenhum 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00600"/>
          </a:xfrm>
          <a:prstGeom prst="roundRect">
            <a:avLst>
              <a:gd name="adj" fmla="val 1524"/>
            </a:avLst>
          </a:prstGeom>
          <a:solidFill>
            <a:srgbClr val="0D24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92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router.post('/users', (req, res) =&gt;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email, age } = req.body;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now = new Date().toISOString();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sql = `INSERT INTO Users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(name, email, age, createdAt, updatedAt)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(?, ?, ?, ?, ?)`;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db.run(sql, [name, email, age, now, now],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(err)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(err) return res.status(400)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.json({ error: err.message });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db.get('SELECT * FROM Users WHERE id = ?',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[this.lastID], (err2, row) =&gt;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(err2) return res.status(500)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.json({ error: err2.message });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res.status(201).json(row);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26680" y="1417320"/>
            <a:ext cx="3913632" cy="4800600"/>
          </a:xfrm>
          <a:prstGeom prst="roundRect">
            <a:avLst>
              <a:gd name="adj" fmla="val 2336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dá pra notar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103120"/>
            <a:ext cx="3520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embutido diretamente na rota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aninhado só pra devolver o registro criado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validação de tipo automática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desse padrão em cada operação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esse código revela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para os alunos observarem antes de você apontar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espalhado pelo código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2024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rota tem sua própria query — mudar uma coluna exige caçar todo lugar onde ela aparece.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6829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13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de padrões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7919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callback → tratar erro → buscar de novo pra devolver o registro completo.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723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aninhados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3814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Piora muito quando existem relacionamentos entre tabelas.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83133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validação automática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19709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é fracamente tipado — nada garante que 'age' é um número ou que 'email' é válido.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590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SQL Injection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956048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Concatenar strings em vez de usar '?' como parâmetro é um erro comum sob pressa.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0410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349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portabilidade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7150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pensado para SQLite pode quebrar ao migrar para PostgreSQL ou MySQL.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Object-Relational Impedance Mismatch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descompasso entre dois modelos de representar dados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480560" cy="3429000"/>
          </a:xfrm>
          <a:prstGeom prst="roundRect">
            <a:avLst>
              <a:gd name="adj" fmla="val 3200"/>
            </a:avLst>
          </a:prstGeom>
          <a:solidFill>
            <a:srgbClr val="EAF6F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276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ORIENTADO A OBJETOS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03120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 dados e comportamento juntos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e composição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entre objetos em memória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de objeto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417320"/>
            <a:ext cx="4480560" cy="3429000"/>
          </a:xfrm>
          <a:prstGeom prst="roundRect">
            <a:avLst>
              <a:gd name="adj" fmla="val 3200"/>
            </a:avLst>
          </a:prstGeom>
          <a:solidFill>
            <a:srgbClr val="EAF6F5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78040" y="16276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1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RELACIONAL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103120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Tabelas, linhas e colunas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conjuntos (álgebra relacional)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primárias e estrangeiras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noção de classe ou herança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2514600"/>
            <a:ext cx="1764792" cy="1234440"/>
          </a:xfrm>
          <a:prstGeom prst="roundRect">
            <a:avLst>
              <a:gd name="adj" fmla="val 7407"/>
            </a:avLst>
          </a:prstGeom>
          <a:solidFill>
            <a:srgbClr val="042F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251460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51663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para quem programa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486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 que você troca de "pensar em objetos" para "pensar em tabelas", isso custa tempo e atenção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ORM automatiza essa tradução — mas não elimina a diferença entre os dois mundos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 é uma técnica que mapeia classes do código para tabelas do banco, instâncias para linhas, e atributos para colunas — permitindo consultar e manipular dados relacionais usando a linguagem de programação, em vez de SQL manual.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0A3E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6393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→ Tabela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050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 do código corresponde a uma tabela do banco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5204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0A3E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36393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→ Linha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40050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criado em memória é um registro real salvo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35204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0A3E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36393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→ Coluna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0050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propriedade do objeto é uma coluna da tabela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10241280" cy="1005840"/>
          </a:xfrm>
          <a:prstGeom prst="roundRect">
            <a:avLst>
              <a:gd name="adj" fmla="val 10909"/>
            </a:avLst>
          </a:prstGeom>
          <a:solidFill>
            <a:srgbClr val="0A3E4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8920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ORM não elimina o SQL — ele gera SQL para você. Entender SQL continua essencial para depurar queries e otimizar performance.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breve linha do tempo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não é capricho moderno — é resposta a um problema de décadas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82496" y="2148840"/>
            <a:ext cx="8887968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20482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6700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9067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TopLink (Java)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3931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primeiros ORMs comerciais de peso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03904" y="20482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2072" y="251460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2F8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62072" y="26700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09067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(Java)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363931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Populariza o padrão em larga escala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5896" y="20482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251460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2F8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84064" y="26700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09067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&amp; Ruby on Rails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363931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padrão em Java; ActiveRecord traz "convenção sobre configuração"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47888" y="20482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6056" y="251460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2F8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06056" y="26700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415784" y="309067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(Node.js)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43216" y="363931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Torna-se um dos ORMs mais usados em JavaScript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69880" y="2048256"/>
            <a:ext cx="201168" cy="20116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8048" y="2514600"/>
            <a:ext cx="2084832" cy="2240280"/>
          </a:xfrm>
          <a:prstGeom prst="roundRect">
            <a:avLst>
              <a:gd name="adj" fmla="val 4386"/>
            </a:avLst>
          </a:prstGeom>
          <a:solidFill>
            <a:srgbClr val="F2F8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528048" y="26700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2020+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637776" y="3090672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e além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65208" y="363931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geração, com geração de tipos e foco em DX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42F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0749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dessa linha do tempo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geração de ferramenta tentou equilibrar produtividade e controle de um jeito diferente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(2011) segue sendo um dos ORMs mais usados em Node.js até hoje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ORM funciona por baixo dos panos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8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código (JS)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User.create({ name, email, age })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86784" y="1801368"/>
            <a:ext cx="39319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4434840" y="1234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(Sequelize)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737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F7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 o SQL parametrizado e instancia o objeto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81544" y="1801368"/>
            <a:ext cx="39319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1234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8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(SQLite)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17373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 o INSERT e retorna o id gerado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mapeamentos centrais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8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42900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↔ Tabela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42900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1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 extends Model  ↔  tabela Users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8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29768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↔ Linha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429768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1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objeto user em memória  ↔  uma linha específica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8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16636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↔ Coluna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516636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1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 ↔  coluna name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padrões de arquitetura de 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que aparecem em outros frameworks e linguagens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2F8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035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Record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sabe se salvar/atualizar/deletar (user.save())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herda de uma classe base do ORM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Rails ActiveRecord, Sequelize, Eloquent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Simples e direto para CRUDs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Mistura persistência com entidade de domínio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2F8F8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554480"/>
            <a:ext cx="5303520" cy="73152"/>
          </a:xfrm>
          <a:prstGeom prst="rect">
            <a:avLst/>
          </a:prstGeom>
          <a:solidFill>
            <a:srgbClr val="017A7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1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Mapper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28600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uma classe "pura", sem saber de banco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mapper/repository separado lê e grava o objeto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Hibernate, Doctrine, TypeORM (parcial)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Separação de responsabilidades mais limpa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Mais boilerplate, curva de aprendizado maior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9963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segue majoritariamente o padrão Active Record.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do 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 repetitivo para operações comuns de CRUD.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939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39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0487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User.findAll({ where: { age: { gte: 18 } } }) é mais claro que montar SQL na mão.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7980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6382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parametrizadas por padrão reduzem drasticamente o risco de SQL Injection.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570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 entre bancos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2277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SQLite por PostgreSQL costuma ser só mudar a configuração de conexão.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7083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315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versionadas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681728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do schema versionado junto ao código, revisável em Pull Requests.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12978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129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074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centralizadas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44068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como "email obrigatório e único" ficam em um único lugar: o model.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Desvantagens e armadilhas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costuma faltar em aulas de 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abstração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2024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fácil "esquecer" SQL e perder a noção do que está sendo executado de verdade.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6829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13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N+1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7919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100 usuários e, para cada um, buscar seus pedidos separadamente gera 101 queries em vez de 1 ou 2.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723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em casos complexos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3814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pesados e agregações costumam ser mais eficientes em SQL puro.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83133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gerado nem sempre é ideal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19709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ORM decide como montar a query; em casos avançados isso pode ser subótimo.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590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"Leaky abstraction"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956048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cedo ou mais tarde você vai precisar entender o SQL por trás para depurar.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 extras que valem menção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2F8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Builder vs. ORM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query builder (ex.: Knex.js) monta SQL sem fazer mapeamento objeto ↔ classe.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33672" y="137160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2F8F8"/>
          </a:solidFill>
          <a:ln/>
        </p:spPr>
      </p:sp>
      <p:sp>
        <p:nvSpPr>
          <p:cNvPr id="9" name="Shape 7"/>
          <p:cNvSpPr/>
          <p:nvPr/>
        </p:nvSpPr>
        <p:spPr>
          <a:xfrm>
            <a:off x="4462272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6227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2194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vs. sync()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56032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sync() é ótimo para prototipar; migrations são o caminho profissional em produção.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18704" y="137160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2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147304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4730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47304" y="2194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47304" y="256032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versionados para popular o banco com dados de teste/exemplo.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2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434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ORM gerencia um conjunto de conexões reaproveitáveis com o banco.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33672" y="352044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2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2272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62272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43434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vs. Eager Loading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62272" y="470916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dados relacionados sob demanda ou já junto (include no Sequelize).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18704" y="352044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2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147304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47304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147304" y="434340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 (NoSQL)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47304" y="4709160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espírito do ORM, adaptado a bancos de documento — ex.: Mongoose/MongoDB.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ORMs — e por que Sequelize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309360" cy="4206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ORMs populares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/ TypeScript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Sequelize, TypeORM, Prisma, Knex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Hibernate, EclipseLink (JPA)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SQLAlchemy, Django 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ActiveRecord (Rails)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Eloquent (Laravel), Doctrine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/ .NET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086600" y="1280160"/>
            <a:ext cx="4553712" cy="4754880"/>
          </a:xfrm>
          <a:prstGeom prst="roundRect">
            <a:avLst>
              <a:gd name="adj" fmla="val 2008"/>
            </a:avLst>
          </a:prstGeom>
          <a:solidFill>
            <a:srgbClr val="042F3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6092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Sequelize hoje?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2011680"/>
            <a:ext cx="4069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Maduro, estável, com grande comunidade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SQLite, PostgreSQL, MySQL, MariaDB e MSSQL com a mesma API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Active Record — mais direto para iniciantes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própria para gerar models, migrations e seeders (bom hábito profissional)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F3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474720"/>
            <a:ext cx="4114800" cy="4114800"/>
          </a:xfrm>
          <a:prstGeom prst="ellipse">
            <a:avLst/>
          </a:prstGeom>
          <a:solidFill>
            <a:srgbClr val="0A3E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Prática: CRUD de usuário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41248" y="416052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0A3E4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4160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parte, vamos colocar a mão no código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esta página como guia enquanto conduz a prática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projeto: Express, Sequelize, sqlite3 e sequelize-cli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66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11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Configurando a conexão com SQLite (config.json)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468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o Model User e sua Migration correspondente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809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926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a migration e inspecionando no DB Browser for SQLite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83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Implementando o CRUD completo: Create, Read, Update, Delete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0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Testando a API com curl/Postman e conferindo no DB Browser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297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do Sequelize e tratamento de erros específicos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754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rodando SQL puro dentro do Sequelize quando necessário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2669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212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final: migrations incrementais e associações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577840" cy="4709160"/>
          </a:xfrm>
          <a:prstGeom prst="roundRect">
            <a:avLst>
              <a:gd name="adj" fmla="val 1942"/>
            </a:avLst>
          </a:prstGeom>
          <a:solidFill>
            <a:srgbClr val="0D24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aula-orm-sequelize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aula-orm-sequelize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sequelize sqlite3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sequelize-cli nodemon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sequelize-cli init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sequelize-cli model:generate 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User \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--attributes name:string,email:string,age:integer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sequelize-cli db:migrate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0"/>
            <a:ext cx="5285232" cy="4709160"/>
          </a:xfrm>
          <a:prstGeom prst="roundRect">
            <a:avLst>
              <a:gd name="adj" fmla="val 1942"/>
            </a:avLst>
          </a:prstGeom>
          <a:solidFill>
            <a:srgbClr val="F2F8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final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20574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aula-orm-sequelize/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config.json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migrations/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..._create-user.js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index.js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user.js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users.js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database.sqlite   (gerado)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app.js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5029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config/config.json aponta o dialect "sqlite" e o storage "./database.sqlite" para development, test e production.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Migration e DB Browser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6126480" cy="5029200"/>
          </a:xfrm>
          <a:prstGeom prst="roundRect">
            <a:avLst>
              <a:gd name="adj" fmla="val 1818"/>
            </a:avLst>
          </a:prstGeom>
          <a:solidFill>
            <a:srgbClr val="0D24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56692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User.init({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DataTypes.STRING,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allowNull: false,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validate: { notEmpty: true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DataTypes.STRING,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allowNull: false,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unique: true,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validate: { isEmail: true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DataTypes.INTEGER,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validate: { min: 0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sequelize, modelName: 'User' });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03720" y="1097280"/>
            <a:ext cx="4736592" cy="5029200"/>
          </a:xfrm>
          <a:prstGeom prst="roundRect">
            <a:avLst>
              <a:gd name="adj" fmla="val 1931"/>
            </a:avLst>
          </a:prstGeom>
          <a:solidFill>
            <a:srgbClr val="F2F8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78040" y="1325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Inspecionando no DB Browser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82880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Database → selecione database.sqlite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Database Structure → confira a tabela Users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 tabela SequelizeMeta (controla quais migrations já rodaram)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Browse Data → deixe aberta durante toda a prática</a:t>
            </a:r>
            <a:endParaRPr lang="en-US" sz="130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3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refresh após cada operação de CRUD para ver o dado mudar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CRUD, lado a lado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routes/users.js reescrito com Sequelize em vez de SQL manual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520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ORM (SQL puro)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Sequelize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INTO... + callback + novo SELECT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17A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User.create({...})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 FROM Users + callback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17A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User.findAll()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por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 FROM Users WHERE id = ?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17A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User.findByPk(id)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... SET ... + novo SELECT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17A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user.update({...})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8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 Users WHERE id = ?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17A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user.destroy()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rotas do Express só chamam o Controller/Model — nenhuma diferença de comportamento para o cliente da API, só na forma como o código é escrito por dentro.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Validações, erros e a porta de escape para SQL puro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943600" cy="4983480"/>
          </a:xfrm>
          <a:prstGeom prst="roundRect">
            <a:avLst>
              <a:gd name="adj" fmla="val 1835"/>
            </a:avLst>
          </a:prstGeom>
          <a:solidFill>
            <a:srgbClr val="0D24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548640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User.create(req.body);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res.status(201).json(user);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error.name === 'SequelizeValidationError' ||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error.name === 'SequelizeUniqueConstraintError'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messages = error.errors.map(e =&gt; e.message);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res.status(400).json({ errors: messages });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res.status(500).json({ error: 'Erro interno' });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Bônus: SQL puro quando necessário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[results] = await sequelize.query(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'SELECT * FROM Users WHERE age &gt;= :minAge',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replacements: { minAge: 18 }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20840" y="1143000"/>
            <a:ext cx="4919472" cy="4983480"/>
          </a:xfrm>
          <a:prstGeom prst="roundRect">
            <a:avLst>
              <a:gd name="adj" fmla="val 1859"/>
            </a:avLst>
          </a:prstGeom>
          <a:solidFill>
            <a:srgbClr val="F2F8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9516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1874520"/>
            <a:ext cx="4434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lança erros nomeados (SequelizeValidationError etc.) — dá para tratar cada caso de forma específica</a:t>
            </a:r>
            <a:endParaRPr lang="en-US" sz="125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mensagens de validação do model (isEmail, notEmpty, min) chegam prontas em error.errors</a:t>
            </a:r>
            <a:endParaRPr lang="en-US" sz="125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app real isso normalmente vira um middleware de erro centralizado no Express</a:t>
            </a:r>
            <a:endParaRPr lang="en-US" sz="1250" dirty="0"/>
          </a:p>
          <a:p>
            <a:pPr marL="203200" indent="-203200">
              <a:spcAft>
                <a:spcPts val="1600"/>
              </a:spcAft>
              <a:buSzPct val="100000"/>
              <a:buChar char="▸"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sequelize.query() mostra que o ORM não te prende: SQL puro continua disponível quando necessário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para os alunos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CRUD construído em aula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54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um campo phone ao model User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2024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uma nova migration — nunca editando a migration antiga.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6829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134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segundo model, Order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7919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relação hasMany / belongsTo entre User e Order.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723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GET /api/users/:id/orders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3814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include (eager loading) para trazer tudo em uma consulta.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83133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uma validação customizada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19709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campo isAdult calculado a partir da idade mínima.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590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Inspecionar cada etapa no DB Browser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956048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 visualmente o que o código gerou no banco.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F33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A3E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a jornada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058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CRUD sem ORM: SQL espalhado, callbacks, código repetitivo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ORM, de onde veio e o problema que resolve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por baixo dos panos e os padrões que usa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reais e armadilhas como o problema N+1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CRUD, agora com Sequelize + Express + SQLite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Browser como verificação visual constante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desafio prático para consolidar tudo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na Prática · Sequelize + Express + SQLite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2609</Words>
  <Application>Microsoft Office PowerPoint</Application>
  <PresentationFormat>Widescreen</PresentationFormat>
  <Paragraphs>425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Fischer</cp:lastModifiedBy>
  <cp:revision>2</cp:revision>
  <dcterms:created xsi:type="dcterms:W3CDTF">2026-09-14T02:37:30Z</dcterms:created>
  <dcterms:modified xsi:type="dcterms:W3CDTF">2026-09-21T20:58:25Z</dcterms:modified>
</cp:coreProperties>
</file>