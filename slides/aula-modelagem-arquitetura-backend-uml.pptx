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188720"/>
            <a:ext cx="1188720" cy="-36576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188720"/>
            <a:ext cx="1828800" cy="7315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1188720"/>
            <a:ext cx="548640" cy="11887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1188720"/>
            <a:ext cx="-365760" cy="91440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822960"/>
            <a:ext cx="640080" cy="109728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81360" y="822960"/>
            <a:ext cx="-640080" cy="155448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822960"/>
            <a:ext cx="-1554480" cy="128016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21440" y="1920240"/>
            <a:ext cx="-1280160" cy="45720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0" y="1920240"/>
            <a:ext cx="-2194560" cy="18288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0" y="2377440"/>
            <a:ext cx="-914400" cy="-2743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10344" y="1106424"/>
            <a:ext cx="164592" cy="16459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99064" y="740664"/>
            <a:ext cx="164592" cy="16459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9144" y="1837944"/>
            <a:ext cx="164592" cy="16459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58984" y="2295144"/>
            <a:ext cx="164592" cy="16459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7" name="Shape 15"/>
          <p:cNvSpPr/>
          <p:nvPr/>
        </p:nvSpPr>
        <p:spPr>
          <a:xfrm>
            <a:off x="9244584" y="2020824"/>
            <a:ext cx="164592" cy="16459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DESENVOLVIMENTO BACKEND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 de Arquitetura Backend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UML clássica aos Diagramas de Componentes e Implantação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1 — Modelagem  |  Aula teórica (≈3h) + Ateliê prático pós-intervalo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percorrer hoje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6596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6596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235000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Abertura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no semestre e por que modelar antes de codar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196596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96596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44568" y="235000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de UML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44568" y="269748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geral + recap rápido dos diagramas clássicos de OO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196596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96596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39328" y="235000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9328" y="269748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com foco em arquitetura de backend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61188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61188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39959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Implantação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" y="434340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com foco em infraestrutura e deploy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429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361188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361188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4568" y="39959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+ Demo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44568" y="434340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Softwares de modelagem e um estudo de caso ao vivo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429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9328" y="361188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361188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39328" y="39959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39328" y="434340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entregar, critérios de avaliação e transição para o ateliê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Sugestão: uma pausa de 8–10 min no meio da fala (após a revisão de UML) ajuda a manter o fôlego de 3h.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esta aula se encaixa no semestre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774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06040" y="2834640"/>
            <a:ext cx="320040" cy="0"/>
          </a:xfrm>
          <a:prstGeom prst="line">
            <a:avLst/>
          </a:prstGeom>
          <a:noFill/>
          <a:ln w="1905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26080" y="23774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EDF1F5"/>
          </a:solidFill>
          <a:ln w="19050">
            <a:solidFill>
              <a:srgbClr val="D7DF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23774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92040" y="2834640"/>
            <a:ext cx="320040" cy="0"/>
          </a:xfrm>
          <a:prstGeom prst="line">
            <a:avLst/>
          </a:prstGeom>
          <a:noFill/>
          <a:ln w="1905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212080" y="23774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EDF1F5"/>
          </a:solidFill>
          <a:ln w="19050">
            <a:solidFill>
              <a:srgbClr val="D7DF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23774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78040" y="2834640"/>
            <a:ext cx="320040" cy="0"/>
          </a:xfrm>
          <a:prstGeom prst="line">
            <a:avLst/>
          </a:prstGeom>
          <a:noFill/>
          <a:ln w="1905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98080" y="23774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EDF1F5"/>
          </a:solidFill>
          <a:ln w="19050">
            <a:solidFill>
              <a:srgbClr val="D7DF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23774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Deploy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464040" y="2834640"/>
            <a:ext cx="320040" cy="0"/>
          </a:xfrm>
          <a:prstGeom prst="line">
            <a:avLst/>
          </a:prstGeom>
          <a:noFill/>
          <a:ln w="1905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84080" y="23774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EDF1F5"/>
          </a:solidFill>
          <a:ln w="19050">
            <a:solidFill>
              <a:srgbClr val="D7DF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23774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611880"/>
            <a:ext cx="1965960" cy="320040"/>
          </a:xfrm>
          <a:prstGeom prst="roundRect">
            <a:avLst>
              <a:gd name="adj" fmla="val 17143"/>
            </a:avLst>
          </a:prstGeom>
          <a:solidFill>
            <a:srgbClr val="E8871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AQUI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20624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trabalho do semestre entrega uma peça do sistema que vocês constroem; hoje começamos pela peça mais estrutural: a arquitetura.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diagrama de componentes e o de implantação que vocês vão desenhar hoje serão a planta baixa do projeto que evolui até o Trabalho Final.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seja: decisão errada aqui custa caro lá na frente — por isso modelamos antes de codar.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UML e por que ela importa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— Unified Modeling Language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visual padronizada para descrever a estrutura e o comportamento de um sistema de software.</a:t>
            </a:r>
            <a:endParaRPr lang="en-US" sz="13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metodologia nem processo — é um vocabulário gráfico comum entre quem projeta e quem constrói.</a:t>
            </a:r>
            <a:endParaRPr lang="en-US" sz="13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Mantida pela OMG (Object Management Group); usada por praticamente todo o mercado de desenvolvimento.</a:t>
            </a:r>
            <a:endParaRPr lang="en-US" sz="13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para comunicar, documentar e, principalmente, pensar antes de escrever a primeira linha de código.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modelar antes de codar?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Expõe decisões de arquitetura antes que virem código difícil de mudar.</a:t>
            </a:r>
            <a:endParaRPr lang="en-US" sz="13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uma linguagem comum entre devs, arquitetos, DevOps e stakeholders.</a:t>
            </a:r>
            <a:endParaRPr lang="en-US" sz="13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 gargalos de infraestrutura (onde cada peça vai rodar, como se comunica).</a:t>
            </a:r>
            <a:endParaRPr lang="en-US" sz="13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base para estimar esforço, dividir equipes e planejar o deploy.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14 diagramas da UML 2.x, em dois grupos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Estruturais — o que existe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← foco de hoje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(Deployment) ← foco de hoje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composta / Perfil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FF3E7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0574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Comportamentais — o que acontece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51460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/ Timing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de interação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revisar rapidamente os clássicos (classes, casos de uso, sequência) e depois mergulhar nos dois destacados.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RÁPIDA  ·  DIAGRAMA ESTRUTURAL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Classes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as classes do sistema, seus atributos, métodos e os relacionamentos entre elas (associação, herança, composição, agregação).</a:t>
            </a:r>
            <a:endParaRPr lang="en-US" sz="14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base de tudo: quando falamos de componentes, cada componente normalmente agrupa um conjunto coerente de classes.</a:t>
            </a:r>
            <a:endParaRPr lang="en-US" sz="14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trabalhado em POO — hoje é só o ponto de partida da conversa.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1920240"/>
            <a:ext cx="21031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1920240"/>
            <a:ext cx="21031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9202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2670048"/>
            <a:ext cx="2103120" cy="0"/>
          </a:xfrm>
          <a:prstGeom prst="line">
            <a:avLst/>
          </a:prstGeom>
          <a:noFill/>
          <a:ln w="12700">
            <a:solidFill>
              <a:srgbClr val="D7DF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2231136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status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65392" y="2706624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calcularTotal()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confirmar()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235440" y="1920240"/>
            <a:ext cx="21031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0" y="1920240"/>
            <a:ext cx="21031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0" y="19202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ItemPedido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35440" y="2670048"/>
            <a:ext cx="2103120" cy="0"/>
          </a:xfrm>
          <a:prstGeom prst="line">
            <a:avLst/>
          </a:prstGeom>
          <a:noFill/>
          <a:ln w="12700">
            <a:solidFill>
              <a:srgbClr val="D7DF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08592" y="2231136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qtde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preco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308592" y="2706624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subtotal()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595360" y="2468880"/>
            <a:ext cx="640080" cy="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641080" y="24871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Composição: um Pedido é feito de vários ItemPedido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RÁPIDA  ·  DIAGRAMA COMPORTAMENTAL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Casos de Uso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que o sistema faz do ponto de vista de quem usa (ator) — não como faz.</a:t>
            </a:r>
            <a:endParaRPr lang="en-US" sz="14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 levantar requisitos funcionais e delimitar o escopo do sistema.</a:t>
            </a:r>
            <a:endParaRPr lang="en-US" sz="14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de uso relevante costuma originar depois um ou mais endpoints da API no backend.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49440" y="2286000"/>
            <a:ext cx="320040" cy="32004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6" name="Shape 4"/>
          <p:cNvSpPr/>
          <p:nvPr/>
        </p:nvSpPr>
        <p:spPr>
          <a:xfrm>
            <a:off x="7109460" y="2606040"/>
            <a:ext cx="0" cy="54864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2788920"/>
            <a:ext cx="594360" cy="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09460" y="3154680"/>
            <a:ext cx="-182880" cy="45720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09460" y="3154680"/>
            <a:ext cx="182880" cy="45720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3657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21040" y="2103120"/>
            <a:ext cx="21945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103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69480" y="2926080"/>
            <a:ext cx="1051560" cy="-438912"/>
          </a:xfrm>
          <a:prstGeom prst="line">
            <a:avLst/>
          </a:prstGeom>
          <a:noFill/>
          <a:ln w="12700">
            <a:solidFill>
              <a:srgbClr val="6B7A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3108960"/>
            <a:ext cx="21945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1089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9480" y="2926080"/>
            <a:ext cx="1051560" cy="566928"/>
          </a:xfrm>
          <a:prstGeom prst="line">
            <a:avLst/>
          </a:prstGeom>
          <a:noFill/>
          <a:ln w="12700">
            <a:solidFill>
              <a:srgbClr val="6B7A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4114800"/>
            <a:ext cx="21945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4114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2926080"/>
            <a:ext cx="1051560" cy="1572768"/>
          </a:xfrm>
          <a:prstGeom prst="line">
            <a:avLst/>
          </a:prstGeom>
          <a:noFill/>
          <a:ln w="12700">
            <a:solidFill>
              <a:srgbClr val="6B7A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RÁPIDA  ·  DIAGRAMA COMPORTAMENTAL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Sequência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 troca de mensagens entre objetos/serviços ao longo do tempo, para um fluxo específico.</a:t>
            </a:r>
            <a:endParaRPr lang="en-US" sz="14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diagrama que mais se aproxima de 'como o backend conversa com ele mesmo' numa requisição.</a:t>
            </a:r>
            <a:endParaRPr lang="en-US" sz="14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usar essa ideia de novo mais adiante, quando falarmos de comunicação entre componentes.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20116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0" y="2377440"/>
            <a:ext cx="0" cy="2926080"/>
          </a:xfrm>
          <a:prstGeom prst="line">
            <a:avLst/>
          </a:prstGeom>
          <a:noFill/>
          <a:ln w="12700">
            <a:solidFill>
              <a:srgbClr val="D7DFE7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7589520" y="20116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46720" y="2377440"/>
            <a:ext cx="0" cy="2926080"/>
          </a:xfrm>
          <a:prstGeom prst="line">
            <a:avLst/>
          </a:prstGeom>
          <a:noFill/>
          <a:ln w="12700">
            <a:solidFill>
              <a:srgbClr val="D7DFE7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9235440" y="20116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923544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92640" y="2377440"/>
            <a:ext cx="0" cy="2926080"/>
          </a:xfrm>
          <a:prstGeom prst="line">
            <a:avLst/>
          </a:prstGeom>
          <a:noFill/>
          <a:ln w="12700">
            <a:solidFill>
              <a:srgbClr val="D7DFE7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0881360" y="20116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088136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338560" y="2377440"/>
            <a:ext cx="0" cy="2926080"/>
          </a:xfrm>
          <a:prstGeom prst="line">
            <a:avLst/>
          </a:prstGeom>
          <a:noFill/>
          <a:ln w="12700">
            <a:solidFill>
              <a:srgbClr val="D7DFE7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400800" y="2697480"/>
            <a:ext cx="1645920" cy="0"/>
          </a:xfrm>
          <a:prstGeom prst="line">
            <a:avLst/>
          </a:prstGeom>
          <a:noFill/>
          <a:ln w="15875">
            <a:solidFill>
              <a:srgbClr val="1B2430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400800" y="247802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/pedidos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46720" y="3136392"/>
            <a:ext cx="1645920" cy="0"/>
          </a:xfrm>
          <a:prstGeom prst="line">
            <a:avLst/>
          </a:prstGeom>
          <a:noFill/>
          <a:ln w="15875">
            <a:solidFill>
              <a:srgbClr val="1B2430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046720" y="291693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criarPedido()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692640" y="3575304"/>
            <a:ext cx="1645920" cy="0"/>
          </a:xfrm>
          <a:prstGeom prst="line">
            <a:avLst/>
          </a:prstGeom>
          <a:noFill/>
          <a:ln w="15875">
            <a:solidFill>
              <a:srgbClr val="1B2430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692640" y="335584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92640" y="4014216"/>
            <a:ext cx="1645920" cy="0"/>
          </a:xfrm>
          <a:prstGeom prst="line">
            <a:avLst/>
          </a:prstGeom>
          <a:noFill/>
          <a:ln w="15875">
            <a:solidFill>
              <a:srgbClr val="1B2430"/>
            </a:solidFill>
            <a:prstDash val="solid"/>
            <a:headEnd type="triangl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9692640" y="37947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46720" y="4453128"/>
            <a:ext cx="1645920" cy="0"/>
          </a:xfrm>
          <a:prstGeom prst="line">
            <a:avLst/>
          </a:prstGeom>
          <a:noFill/>
          <a:ln w="15875">
            <a:solidFill>
              <a:srgbClr val="1B2430"/>
            </a:solidFill>
            <a:prstDash val="solid"/>
            <a:headEnd type="triangl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8046720" y="42336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00800" y="4892040"/>
            <a:ext cx="1645920" cy="0"/>
          </a:xfrm>
          <a:prstGeom prst="line">
            <a:avLst/>
          </a:prstGeom>
          <a:noFill/>
          <a:ln w="15875">
            <a:solidFill>
              <a:srgbClr val="1B2430"/>
            </a:solidFill>
            <a:prstDash val="solid"/>
            <a:headEnd type="triangl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6400800" y="467258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aqui, modelamos o que o sistema É e o que ele FAZ.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falta responder duas perguntas de quem constrói backend: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88720" y="3977640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132C5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42062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software se divide em partes que se conectam?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5120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COMPONENTES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3977640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132C5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42062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 como cada parte roda de verdade?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400" y="5120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IMPLANTAÇÃO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1  ·  FOCO: ARQUITETURA DE BACKEND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Componentes: o que 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600200"/>
            <a:ext cx="12188952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como o software é decomposto em partes substituíveis e independentes — os componentes.</a:t>
            </a:r>
            <a:endParaRPr lang="en-US" sz="145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encapsula sua implementação e só se expõe através de interfaces bem definidas.</a:t>
            </a:r>
            <a:endParaRPr lang="en-US" sz="145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mostra hardware nem onde o software roda — isso é papel do diagrama de implantação (próximo).</a:t>
            </a:r>
            <a:endParaRPr lang="en-US" sz="145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backend: um componente pode ser um serviço, um módulo, uma API, uma biblioteca ou uma camada inteira (ex.: camada de acesso a dados).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92240" y="196596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4F7FA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em componente como uma "caixa preta com plugues"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0" y="2880360"/>
            <a:ext cx="2194560" cy="13716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8803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3566160"/>
            <a:ext cx="-457200" cy="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60920" y="342900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provida: IPagamento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149840" y="3566160"/>
            <a:ext cx="457200" cy="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61320" y="3429000"/>
            <a:ext cx="0" cy="27432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0" y="3794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requerida: IGateway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66560" y="4572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Círculo (lollipop) = interface que o componente OFERECE.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Meia-lua (socket) = interface que ele PRECISA de outro componente.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Notação essencial do Diagrama de Componentes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«component»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8716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Retângulo com estereótipo ou ícone de dois blocos no canto — representa o módulo/serviço.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201168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116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provida (o)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6520" y="248716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Círculo/lollipop preso ao componente: o que ele oferece a outros (ex.: uma API REST).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44728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47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requerida (⊃)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92277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Meia-lua/socket: o que o componente precisa consumir de outro para funcionar.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26440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44728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447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Dependência (- - -&gt;)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392277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 tracejada: um componente usa o outro, mas não faz parte dele.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0001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882896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8289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Artefato «artifact»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35838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Retângulo com ícone de documento: o arquivo físico gerado — .jar, imagem Docker, .dll.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70001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882896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88289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535838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 quadrado na borda do componente por onde ele expõe uma interface específica.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1  ·  APLICANDO AO BACKEND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um backend de e-commerce em componentes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20640" y="1874520"/>
            <a:ext cx="19202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93792" y="1947672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1874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9202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999232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2926080"/>
            <a:ext cx="19202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07792" y="2999232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29260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2926080"/>
            <a:ext cx="19202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93792" y="2999232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9260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2926080"/>
            <a:ext cx="19202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79792" y="2999232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9260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92640" y="2926080"/>
            <a:ext cx="19202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65792" y="2999232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29260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508760" y="2468880"/>
            <a:ext cx="4572000" cy="45720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794760" y="2468880"/>
            <a:ext cx="2286000" cy="45720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80760" y="2468880"/>
            <a:ext cx="0" cy="45720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366760" y="2468880"/>
            <a:ext cx="-2286000" cy="45720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652760" y="2468880"/>
            <a:ext cx="-4572000" cy="45720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834640" y="3977640"/>
            <a:ext cx="19202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07792" y="4050792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3977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(dados)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06640" y="3977640"/>
            <a:ext cx="19202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79792" y="4050792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3977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3611880"/>
            <a:ext cx="0" cy="36576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8366760" y="3611880"/>
            <a:ext cx="0" cy="36576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retângulo é um componente independente. As setas tracejadas são dependências via interface — ex.: o Serviço de Pedidos REQUER uma interface de Pagamento e de Fila de Mensagens.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1  ·  GRANULARIDADE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Componentes: de módulos de um monólito a microsserviços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Monólito modular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processo/deploy, mas o código é dividido em componentes internos: Controller, Service, Repository.</a:t>
            </a:r>
            <a:endParaRPr lang="en-US" sz="12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se comunicam por chamadas de método (in-process).</a:t>
            </a:r>
            <a:endParaRPr lang="en-US" sz="12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ponto de partida para o projeto do semestre: simples de rodar e de depurar.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Microsserviços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56032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é um processo/deploy separado, com seu próprio ciclo de vida.</a:t>
            </a:r>
            <a:endParaRPr lang="en-US" sz="12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via rede: REST, gRPC, mensageria — cada interface vira um contrato real entre times.</a:t>
            </a:r>
            <a:endParaRPr lang="en-US" sz="12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diagrama de componentes é o mesmo tipo de diagrama nos dois casos — muda só a granularidade e como a interface é implementada.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2  ·  FOCO: INFRAESTRUTURA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Implantação: o que 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600200"/>
            <a:ext cx="12188952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 topologia física/runtime: onde cada artefato de software é executado de fato.</a:t>
            </a:r>
            <a:endParaRPr lang="en-US" sz="145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Elementos-chave: nó (node), ambiente de execução, artefato e caminho de comunicação.</a:t>
            </a:r>
            <a:endParaRPr lang="en-US" sz="145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perguntas que o diagrama de componentes não responde: quantos servidores? Que protocolo liga o quê ao quê? Onde fica o banco?</a:t>
            </a:r>
            <a:endParaRPr lang="en-US" sz="145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backend: é aqui que aparecem containers, cloud, load balancer, banco gerenciado, CDN, fila — a infraestrutura real do sistema.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92240" y="196596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4F7FA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nó pode conter outro nó (aninhamento)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40880" y="2743200"/>
            <a:ext cx="3657600" cy="2743200"/>
          </a:xfrm>
          <a:prstGeom prst="rect">
            <a:avLst/>
          </a:prstGeom>
          <a:solidFill>
            <a:srgbClr val="E7EEF5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834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«node»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Cloud (EC2)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06640" y="3337560"/>
            <a:ext cx="29260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49808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«execution environment»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Docker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0" y="3931920"/>
            <a:ext cx="2194560" cy="9144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3931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«artifact»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api-backend.jar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Notação essencial do Diagrama de Implantação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«node» (cubo 3D)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48716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computacional: um servidor físico, uma VM, uma instância de cloud.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201168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11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«execution environment»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46520" y="248716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aninhado que hospeda artefatos: container Docker, JVM, servidor de aplicação.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447288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472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«artifact»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92277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físico implantado: .jar, .war, imagem Docker, bundle estático.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26440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447288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4472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Caminho de comunicação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392277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entre nós, com estereótipo do protocolo: «HTTP», «TCP/IP», «AMQP».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0001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882896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8289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«device»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535838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especializado: roteador, balanceador de carga físico, sensor IoT.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70001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882896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88289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Multiplicidade no nó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46520" y="535838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"3" acima de um nó de container = 3 réplicas rodando em paralelo.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2  ·  APLICANDO AO BACKEND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a mesma aplicação, agora implantada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11680" cy="548640"/>
          </a:xfrm>
          <a:prstGeom prst="rect">
            <a:avLst/>
          </a:prstGeom>
          <a:solidFill>
            <a:srgbClr val="FFFFFF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47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«device»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/ Browser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0" y="2148840"/>
            <a:ext cx="914400" cy="0"/>
          </a:xfrm>
          <a:prstGeom prst="line">
            <a:avLst/>
          </a:prstGeom>
          <a:noFill/>
          <a:ln w="1651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560320" y="1828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«HTTPS»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74720" y="1874520"/>
            <a:ext cx="1828800" cy="548640"/>
          </a:xfrm>
          <a:prstGeom prst="rect">
            <a:avLst/>
          </a:prstGeom>
          <a:solidFill>
            <a:srgbClr val="E8871E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9476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«node»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4572000" cy="1920240"/>
          </a:xfrm>
          <a:prstGeom prst="rect">
            <a:avLst/>
          </a:prstGeom>
          <a:solidFill>
            <a:srgbClr val="F0F4F8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449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«node» Cluster Kubernetes (cloud)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3429000"/>
            <a:ext cx="1828800" cy="1234440"/>
          </a:xfrm>
          <a:prstGeom prst="rect">
            <a:avLst/>
          </a:prstGeom>
          <a:solidFill>
            <a:srgbClr val="FFFFFF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5021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«exec env» Pod 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«artifact»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api:latest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0" y="3429000"/>
            <a:ext cx="1828800" cy="1234440"/>
          </a:xfrm>
          <a:prstGeom prst="rect">
            <a:avLst/>
          </a:prstGeom>
          <a:solidFill>
            <a:srgbClr val="FFFFFF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5021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«exec env» Pod 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«artifact»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api:latest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2423160"/>
            <a:ext cx="0" cy="548640"/>
          </a:xfrm>
          <a:prstGeom prst="line">
            <a:avLst/>
          </a:prstGeom>
          <a:noFill/>
          <a:ln w="1651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60720" y="2971800"/>
            <a:ext cx="2103120" cy="822960"/>
          </a:xfrm>
          <a:prstGeom prst="rect">
            <a:avLst/>
          </a:prstGeom>
          <a:solidFill>
            <a:srgbClr val="E8871E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30449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«node»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Cache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(Redis)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60720" y="4069080"/>
            <a:ext cx="2103120" cy="822960"/>
          </a:xfrm>
          <a:prstGeom prst="rect">
            <a:avLst/>
          </a:prstGeom>
          <a:solidFill>
            <a:srgbClr val="065A82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41422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«node»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 gerenciado)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12480" y="2971800"/>
            <a:ext cx="2651760" cy="822960"/>
          </a:xfrm>
          <a:prstGeom prst="rect">
            <a:avLst/>
          </a:prstGeom>
          <a:solidFill>
            <a:srgbClr val="065A82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«node»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de Mensagens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(RabbitMQ)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412480" y="4069080"/>
            <a:ext cx="2651760" cy="822960"/>
          </a:xfrm>
          <a:prstGeom prst="rect">
            <a:avLst/>
          </a:prstGeom>
          <a:solidFill>
            <a:srgbClr val="065A82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41422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«node»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(S3 / Blob)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20640" y="3383280"/>
            <a:ext cx="640080" cy="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120640" y="4480560"/>
            <a:ext cx="640080" cy="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120640" y="3383280"/>
            <a:ext cx="0" cy="109728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o diagrama de componentes dizia "o quê"; este diz "onde" — cada nó pode hospedar um ou mais componentes/artefatos do slide anterior.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x Implantação: qual a diferença?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926080" y="1828800"/>
            <a:ext cx="434340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0" y="18288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Componentes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828800"/>
            <a:ext cx="43434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269480" y="18288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Implantação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377440" cy="777240"/>
          </a:xfrm>
          <a:prstGeom prst="rect">
            <a:avLst/>
          </a:prstGeom>
          <a:solidFill>
            <a:srgbClr val="E7EEF5"/>
          </a:solidFill>
          <a:ln w="9525">
            <a:solidFill>
              <a:srgbClr val="D7DF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2331720"/>
            <a:ext cx="4343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33172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software se divide e se conecta?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2331720"/>
            <a:ext cx="4343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233172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 em que hardware/ambiente ele roda?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2377440" cy="777240"/>
          </a:xfrm>
          <a:prstGeom prst="rect">
            <a:avLst/>
          </a:prstGeom>
          <a:solidFill>
            <a:srgbClr val="E7EEF5"/>
          </a:solidFill>
          <a:ln w="9525">
            <a:solidFill>
              <a:srgbClr val="D7DF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089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3108960"/>
            <a:ext cx="4343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310896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Componente, interface provida/requerida, porta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3108960"/>
            <a:ext cx="4343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310896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Nó, ambiente de execução, artefato, caminho de comunicação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2377440" cy="777240"/>
          </a:xfrm>
          <a:prstGeom prst="rect">
            <a:avLst/>
          </a:prstGeom>
          <a:solidFill>
            <a:srgbClr val="E7EEF5"/>
          </a:solidFill>
          <a:ln w="9525">
            <a:solidFill>
              <a:srgbClr val="D7DF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862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0" y="3886200"/>
            <a:ext cx="4343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0" y="388620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Lógico / arquitetural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69480" y="3886200"/>
            <a:ext cx="4343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388620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 / infraestrutura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2377440" cy="777240"/>
          </a:xfrm>
          <a:prstGeom prst="rect">
            <a:avLst/>
          </a:prstGeom>
          <a:solidFill>
            <a:srgbClr val="E7EEF5"/>
          </a:solidFill>
          <a:ln w="9525">
            <a:solidFill>
              <a:srgbClr val="D7DF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663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típica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26080" y="4663440"/>
            <a:ext cx="4343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3240" y="466344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Serviço de Pedidos depende de quê?"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69480" y="4663440"/>
            <a:ext cx="4343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466344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"Quantas réplicas do backend estão no ar e onde?"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440680"/>
            <a:ext cx="2377440" cy="777240"/>
          </a:xfrm>
          <a:prstGeom prst="rect">
            <a:avLst/>
          </a:prstGeom>
          <a:solidFill>
            <a:srgbClr val="E7EEF5"/>
          </a:solidFill>
          <a:ln w="9525">
            <a:solidFill>
              <a:srgbClr val="D7DF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4406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usa no dia a dia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26080" y="5440680"/>
            <a:ext cx="4343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3240" y="544068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Arquitetos e devs, ao desenhar o sistema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69480" y="5440680"/>
            <a:ext cx="4343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544068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de DevOps/SRE, ao planejar o deploy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 ·  "TAREFAFÁCIL" (API DE TAREFAS)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a passo: modelando os componentes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Liste as responsabilidades do sistema: autenticar, gerenciar tarefas, notificar.</a:t>
            </a:r>
            <a:endParaRPr lang="en-US" sz="13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Agrupe cada responsabilidade em um componente coerente (não uma classe — um módulo inteiro).</a:t>
            </a:r>
            <a:endParaRPr lang="en-US" sz="13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Para cada componente, pergunte: o que ele oferece (interface provida) e do que ele depende (interface requerida)?</a:t>
            </a:r>
            <a:endParaRPr lang="en-US" sz="13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Desenhe as dependências como setas tracejadas entre as interfaces — nunca ligue componente direto a componente.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75120" y="1920240"/>
            <a:ext cx="19202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(Express)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418320" y="1920240"/>
            <a:ext cx="173736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(JWT)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0" y="2926080"/>
            <a:ext cx="19202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926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418320" y="2926080"/>
            <a:ext cx="173736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0" y="2926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(Tarefas)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3931920"/>
            <a:ext cx="19202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931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Notificador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(e-mail)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35240" y="2468880"/>
            <a:ext cx="0" cy="45720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287000" y="2468880"/>
            <a:ext cx="0" cy="45720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95360" y="3200400"/>
            <a:ext cx="822960" cy="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3474720"/>
            <a:ext cx="0" cy="45720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aula: peça para os alunos fazerem esse mesmo raciocínio (passo 1 a 4) com o domínio do próprio projeto final antes de desenhar.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 ·  "TAREFAFÁCIL" (API DE TAREFAS)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a passo: modelando a implantação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Para cada componente, decida: ele vira um artefato próprio (container) ou entra junto com outro?</a:t>
            </a:r>
            <a:endParaRPr lang="en-US" sz="13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Escolha os nós: onde roda a aplicação? onde roda o banco? precisa de load balancer?</a:t>
            </a:r>
            <a:endParaRPr lang="en-US" sz="13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Ligue os nós com caminhos de comunicação, indicando o protocolo (HTTP, TCP).</a:t>
            </a:r>
            <a:endParaRPr lang="en-US" sz="13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Questione escala e falha: e se o container cair? há réplica? há backup do banco?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0" y="1920240"/>
            <a:ext cx="1828800" cy="502920"/>
          </a:xfrm>
          <a:prstGeom prst="rect">
            <a:avLst/>
          </a:prstGeom>
          <a:solidFill>
            <a:srgbClr val="FFFFFF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56832" y="1975104"/>
            <a:ext cx="1682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«device»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778240" y="1920240"/>
            <a:ext cx="2194560" cy="502920"/>
          </a:xfrm>
          <a:prstGeom prst="rect">
            <a:avLst/>
          </a:prstGeom>
          <a:solidFill>
            <a:srgbClr val="E7EEF5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51392" y="1975104"/>
            <a:ext cx="2048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«node» VPS (DigitalOcean)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61120" y="2560320"/>
            <a:ext cx="1828800" cy="822960"/>
          </a:xfrm>
          <a:prstGeom prst="rect">
            <a:avLst/>
          </a:prstGeom>
          <a:solidFill>
            <a:srgbClr val="FFFFFF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34272" y="2615184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«exec env» Docker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«artifact» api.jar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78240" y="3520440"/>
            <a:ext cx="2194560" cy="548640"/>
          </a:xfrm>
          <a:prstGeom prst="rect">
            <a:avLst/>
          </a:prstGeom>
          <a:solidFill>
            <a:srgbClr val="065A82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51392" y="3575304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«node» PostgreSQL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(container)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0" y="2167128"/>
            <a:ext cx="365760" cy="0"/>
          </a:xfrm>
          <a:prstGeom prst="line">
            <a:avLst/>
          </a:prstGeom>
          <a:noFill/>
          <a:ln w="1524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875520" y="2423160"/>
            <a:ext cx="0" cy="137160"/>
          </a:xfrm>
          <a:prstGeom prst="line">
            <a:avLst/>
          </a:prstGeom>
          <a:noFill/>
          <a:ln w="15240">
            <a:solidFill>
              <a:srgbClr val="1B2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3383280"/>
            <a:ext cx="0" cy="137160"/>
          </a:xfrm>
          <a:prstGeom prst="line">
            <a:avLst/>
          </a:prstGeom>
          <a:noFill/>
          <a:ln w="15240">
            <a:solidFill>
              <a:srgbClr val="1B2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2976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Turma-alvo: como o projeto é acadêmico, um único VPS/servidor já é um deployment diagram válido — não precisa ser Kubernetes para valer nota. O importante é a coerência com os componentes.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COLOCANDO A MÃO NA MASSA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para modelar UML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draw.io / diagrams.net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Gratuita, web e desktop, biblioteca UML pronta. Ótima porta de entrada — arrastar e soltar.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0574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5420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PlantUML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como código (texto → imagem). Versionável no Git, ideal para mentalidade de backend/DevOps.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0574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25420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Mermaid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28803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Parecido com PlantUML, roda direto em Markdown/GitHub/VS Code. Ótimo para documentação viva.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690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553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StarUML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8920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Desktop, aderente ao padrão UML, bom para diagramas mais formais e completos.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0690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4553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Paradigm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Robusta, versão Community gratuita, boa para projetos maiores com múltiplos diagramas ligados.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40690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66760" y="4553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Lucidchart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66760" y="48920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Colaborativa em nuvem, boa para equipes desenhando em tempo real (freemium).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PARA O EXERCÍCIO DE HOJE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ferramenta usar na aula de hoje?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3291840" cy="32004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 P/ INICIANTES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draw.io (diagrams.net)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arrastar-e-soltar, sem instalar nada (versão web).</a:t>
            </a:r>
            <a:endParaRPr lang="en-US" sz="12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stencils prontos de UML — componente, nó, artefato.</a:t>
            </a:r>
            <a:endParaRPr lang="en-US" sz="12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PNG/SVG/PDF direto para entregar no trabalho.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103120"/>
            <a:ext cx="3108960" cy="320040"/>
          </a:xfrm>
          <a:prstGeom prst="roundRect">
            <a:avLst>
              <a:gd name="adj" fmla="val 228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103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QUER IR ALÉM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560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PlantUML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301752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vira texto — combina com a lógica de versionar tudo no Git, igual código.</a:t>
            </a:r>
            <a:endParaRPr lang="en-US" sz="12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para manter os diagramas atualizados junto do repositório do projeto final.</a:t>
            </a:r>
            <a:endParaRPr lang="en-US" sz="12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 um pouco maior; roda em plugin de VS Code ou site oficial.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É A MINHA VEZ DE DESENHAR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prática ao vivo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8562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o domínio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25856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o sistema "TarefaFácil" (ou o domínio do projeto final da turma) como exemplo comum.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0100" y="2377440"/>
            <a:ext cx="0" cy="548640"/>
          </a:xfrm>
          <a:prstGeom prst="line">
            <a:avLst/>
          </a:prstGeom>
          <a:noFill/>
          <a:ln w="19050">
            <a:solidFill>
              <a:srgbClr val="D7D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9077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Listar responsabilidades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31012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Penso em voz alta: o que esse backend precisa fazer? Auth, CRUD de tarefas, notificação.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" y="3429000"/>
            <a:ext cx="0" cy="548640"/>
          </a:xfrm>
          <a:prstGeom prst="line">
            <a:avLst/>
          </a:prstGeom>
          <a:noFill/>
          <a:ln w="19050">
            <a:solidFill>
              <a:srgbClr val="D7DF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9593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Desenhar componentes ao vivo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36168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Abro o draw.io/PlantUML na tela e monto o diagrama de componentes com a turma, discutindo cada interface.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" y="4480560"/>
            <a:ext cx="0" cy="548640"/>
          </a:xfrm>
          <a:prstGeom prst="line">
            <a:avLst/>
          </a:prstGeom>
          <a:noFill/>
          <a:ln w="19050">
            <a:solidFill>
              <a:srgbClr val="D7DF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0109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Derivar a implantação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541324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dos componentes, decido nós, containers e conexões — mostrando a ligação entre os dois diagramas.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INTERVALO, MÃO NA MASSA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exercício de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132C5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Componentes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sistema que vocês estão desenvolvendo no semestre. Identifique módulos/serviços, interfaces providas e requeridas.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78308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132C5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Implantação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5603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Coerente com os componentes acima. Escolha nós, ambientes de execução e caminhos de comunicação realistas.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livre: draw.io ou PlantUML (ou outra da lista, se preferir).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grupo — o mesmo grupo do projeto final.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arquivo exportado (PNG/SVG/PDF) + fonte editável, no formato combinado em aula.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disponível: o restante da aula após o intervalo.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INTERVALO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de avaliação e próximos passos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abstração adequado (componente ≠ classe; nó ≠ instalação de software solta)</a:t>
            </a:r>
            <a:endParaRPr lang="en-US" sz="135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Notação correta: interfaces providas/requeridas, estereótipos, artefatos bem indicados</a:t>
            </a:r>
            <a:endParaRPr lang="en-US" sz="135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Coerência entre os dois diagramas — cada componente relevante aparece implantado em algum nó</a:t>
            </a:r>
            <a:endParaRPr lang="en-US" sz="135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das escolhas de infraestrutura (por que esse nó, esse protocolo, essa separação)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82880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do intervalo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0" y="242316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Formem os grupos e abram a ferramenta escolhida.</a:t>
            </a:r>
            <a:endParaRPr lang="en-US" sz="12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Comecem pelos componentes — a implantação nasce a partir deles.</a:t>
            </a:r>
            <a:endParaRPr lang="en-US" sz="12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Chamem para tirar dúvidas: vou circular pela sala.</a:t>
            </a:r>
            <a:endParaRPr lang="en-US" sz="12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final, salvem e enviem conforme combinado.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4406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Intervalo — 15 min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5532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voltar: modelagem em grupo até o fim da aula.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  ·  Modelagem — Componentes &amp; Implantação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2026-08-10T00:58:42Z</dcterms:created>
  <dcterms:modified xsi:type="dcterms:W3CDTF">2026-08-10T00:58:42Z</dcterms:modified>
</cp:coreProperties>
</file>