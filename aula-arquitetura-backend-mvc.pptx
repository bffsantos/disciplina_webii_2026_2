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214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206240"/>
            <a:ext cx="4572000" cy="4572000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PROGRAMAÇÃO BACKEND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96012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de Projetos</a:t>
            </a:r>
            <a:endParaRPr lang="en-US" sz="4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48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 sugerida: 2h a 2h30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Nesta parte, vamos falar sobre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esta página como guia enquanto apresenta a teoria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934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09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5544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sem arquitetura: o problema do "tudo num arquivo só"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06654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066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116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trava times e dificulta testes conforme o projeto cresce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52374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523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4688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de arquitetura de software no contexto backend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298094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2980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29260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Separação de responsabilidades: o princípio por trás de tudo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43814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438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3832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em camadas (Rotas → Controller → Service → Model → Banco)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389534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3895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38404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geral: MVC, MVVM, Repository, Service Layer, Clean Architecture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435254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4352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42976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MVC: origem em 1979, no Smalltalk-80, com Trygve Reenskaug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0080" y="480974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4809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47548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papéis (Model, View, Controller) e o fluxo de uma requisição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Projetos Backend · Ênfase em MVC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ponto de partida: backend sem arquitetura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app.js único, crescendo sem nenhum critério de organização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949440" cy="4800600"/>
          </a:xfrm>
          <a:prstGeom prst="roundRect">
            <a:avLst>
              <a:gd name="adj" fmla="val 1524"/>
            </a:avLst>
          </a:prstGeom>
          <a:solidFill>
            <a:srgbClr val="1014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64922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app.post('/users', async (req, res) =&gt; {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validação misturada aqui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(!req.body.email.includes('@')) {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res.status(400)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.json({ error: 'email inválido' });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 = await User.create(req.body);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</a:t>
            </a:r>
            <a:r>
              <a:rPr lang="en-US" sz="1100" dirty="0" err="1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user.age</a:t>
            </a:r>
            <a:r>
              <a:rPr lang="en-US" sz="11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</a:t>
            </a:r>
            <a:r>
              <a:rPr lang="en-US" sz="1100" dirty="0" err="1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user.age</a:t>
            </a:r>
            <a:r>
              <a:rPr lang="en-US" sz="11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18) {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user.isMinor = true;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user.save();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res.status(201).json(user);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...e mais 200 linhas de rotas de produtos,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pedidos, pagamentos, tudo no mesmo arquivo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26680" y="1417320"/>
            <a:ext cx="3913632" cy="4800600"/>
          </a:xfrm>
          <a:prstGeom prst="roundRect">
            <a:avLst>
              <a:gd name="adj" fmla="val 2336"/>
            </a:avLst>
          </a:prstGeom>
          <a:solidFill>
            <a:srgbClr val="F2F5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0" y="16459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 err="1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Analisar</a:t>
            </a: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: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2286000"/>
            <a:ext cx="35204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Rotas, validação e regra de negócio tudo misturado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Duplicação inevitável entre recursos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de testar sem subir o servidor inteiro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Acoplamento entre HTTP e regra de negócio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Projetos Backend · Ênfase em MVC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isso vira um problema quando cresce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3502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35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801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em conflito constante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645920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devs mexendo em rotas diferentes, no mesmo arquivo, geram merge conflicts o tempo todo.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093976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093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3911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negócio presa ao HTTP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404872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a mesma regra fora de uma requisição (ex.: script de importação) exige duplicar código.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8529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852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79806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difíceis de isolar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163824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só a regra "menor de idade" exige simular uma requisição HTTP completa.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61188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55701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Duplicação entre recursos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922776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e-mail para "produtos" e "pedidos" tende a ser colada de novo, não reaproveitada.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Projetos Backend · Ênfase em MVC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960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17320"/>
            <a:ext cx="10241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de software é o conjunto de decisões estruturais sobre como o código é organizado, dividido em partes, e como essas partes se comunicam — decisões que impactam manutenibilidade, testabilidade e a velocidade do time.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que a arquitetura responde: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425196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1F2A6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425196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fica a validação de dados de entrada?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425196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1F2A6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0" y="425196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fica a lógica de negócio?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530352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1F2A6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530352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fica o acesso ao banco de dados?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530352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1F2A6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0" y="530352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uma requisição chega até esses lugares e volta?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Projetos Backend · Ênfase em MVC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Separação de responsabilidades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5039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camada cuida de um tipo de responsabilidade, sem saber os detalhes das outras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08276" y="1325880"/>
            <a:ext cx="777240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482596" y="132588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4768596" y="132588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requisição chega e a resposta sai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12180" y="1901952"/>
            <a:ext cx="164592" cy="109728"/>
          </a:xfrm>
          <a:prstGeom prst="downArrow">
            <a:avLst/>
          </a:prstGeom>
          <a:solidFill>
            <a:srgbClr val="5C6480"/>
          </a:solidFill>
          <a:ln/>
        </p:spPr>
      </p:sp>
      <p:sp>
        <p:nvSpPr>
          <p:cNvPr id="8" name="Shape 6"/>
          <p:cNvSpPr/>
          <p:nvPr/>
        </p:nvSpPr>
        <p:spPr>
          <a:xfrm>
            <a:off x="2208276" y="2020824"/>
            <a:ext cx="7772400" cy="566928"/>
          </a:xfrm>
          <a:prstGeom prst="roundRect">
            <a:avLst>
              <a:gd name="adj" fmla="val 12903"/>
            </a:avLst>
          </a:prstGeom>
          <a:solidFill>
            <a:srgbClr val="3D57C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482596" y="2020824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768596" y="2020824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 com essa requisição (orquestração)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12180" y="2596896"/>
            <a:ext cx="164592" cy="109728"/>
          </a:xfrm>
          <a:prstGeom prst="downArrow">
            <a:avLst/>
          </a:prstGeom>
          <a:solidFill>
            <a:srgbClr val="5C6480"/>
          </a:solidFill>
          <a:ln/>
        </p:spPr>
      </p:sp>
      <p:sp>
        <p:nvSpPr>
          <p:cNvPr id="12" name="Shape 10"/>
          <p:cNvSpPr/>
          <p:nvPr/>
        </p:nvSpPr>
        <p:spPr>
          <a:xfrm>
            <a:off x="2208276" y="2715768"/>
            <a:ext cx="7772400" cy="566928"/>
          </a:xfrm>
          <a:prstGeom prst="roundRect">
            <a:avLst>
              <a:gd name="adj" fmla="val 12903"/>
            </a:avLst>
          </a:prstGeom>
          <a:solidFill>
            <a:srgbClr val="6E7FD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482596" y="271576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768596" y="2715768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negócio (opcional / avançado)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12180" y="3291840"/>
            <a:ext cx="164592" cy="109728"/>
          </a:xfrm>
          <a:prstGeom prst="downArrow">
            <a:avLst/>
          </a:prstGeom>
          <a:solidFill>
            <a:srgbClr val="5C6480"/>
          </a:solidFill>
          <a:ln/>
        </p:spPr>
      </p:sp>
      <p:sp>
        <p:nvSpPr>
          <p:cNvPr id="16" name="Shape 14"/>
          <p:cNvSpPr/>
          <p:nvPr/>
        </p:nvSpPr>
        <p:spPr>
          <a:xfrm>
            <a:off x="2208276" y="3410712"/>
            <a:ext cx="7772400" cy="566928"/>
          </a:xfrm>
          <a:prstGeom prst="roundRect">
            <a:avLst>
              <a:gd name="adj" fmla="val 12903"/>
            </a:avLst>
          </a:prstGeom>
          <a:solidFill>
            <a:srgbClr val="8593D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482596" y="3410712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768596" y="3410712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os dados são representados e persistidos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12180" y="3986784"/>
            <a:ext cx="164592" cy="109728"/>
          </a:xfrm>
          <a:prstGeom prst="downArrow">
            <a:avLst/>
          </a:prstGeom>
          <a:solidFill>
            <a:srgbClr val="5C6480"/>
          </a:solidFill>
          <a:ln/>
        </p:spPr>
      </p:sp>
      <p:sp>
        <p:nvSpPr>
          <p:cNvPr id="20" name="Shape 18"/>
          <p:cNvSpPr/>
          <p:nvPr/>
        </p:nvSpPr>
        <p:spPr>
          <a:xfrm>
            <a:off x="2208276" y="4105656"/>
            <a:ext cx="7772400" cy="566928"/>
          </a:xfrm>
          <a:prstGeom prst="roundRect">
            <a:avLst>
              <a:gd name="adj" fmla="val 12903"/>
            </a:avLst>
          </a:prstGeom>
          <a:solidFill>
            <a:srgbClr val="1F2A6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482596" y="4105656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4768596" y="4105656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os dados realmente residem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08276" y="4937760"/>
            <a:ext cx="7772400" cy="1051560"/>
          </a:xfrm>
          <a:prstGeom prst="roundRect">
            <a:avLst>
              <a:gd name="adj" fmla="val 6957"/>
            </a:avLst>
          </a:prstGeom>
          <a:solidFill>
            <a:srgbClr val="F2F5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436876" y="50566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seta é uma fronteira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2436876" y="5358384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está de um lado não precisa saber os detalhes internos de quem está do outro — o Controller não sabe como o Model conversa com o SQLite, só que pode pedir dados a ele.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Projetos Backend · Ênfase em MVC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Panorama de arquiteturas e padrões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é o ponto de partida — mas há um mapa maior ao redor dele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02152" cy="1234440"/>
          </a:xfrm>
          <a:prstGeom prst="roundRect">
            <a:avLst>
              <a:gd name="adj" fmla="val 7407"/>
            </a:avLst>
          </a:prstGeom>
          <a:solidFill>
            <a:srgbClr val="F2F5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01952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Model-View-Controller — foco de hoje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33672" y="1371600"/>
            <a:ext cx="3502152" cy="1234440"/>
          </a:xfrm>
          <a:prstGeom prst="roundRect">
            <a:avLst>
              <a:gd name="adj" fmla="val 7407"/>
            </a:avLst>
          </a:prstGeom>
          <a:solidFill>
            <a:srgbClr val="F2F5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62272" y="150876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4462272" y="1901952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Comum em frontend (Vue, Angular)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18704" y="1371600"/>
            <a:ext cx="3502152" cy="1234440"/>
          </a:xfrm>
          <a:prstGeom prst="roundRect">
            <a:avLst>
              <a:gd name="adj" fmla="val 7407"/>
            </a:avLst>
          </a:prstGeom>
          <a:solidFill>
            <a:srgbClr val="F2F5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147304" y="150876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N-tier / Camadas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147304" y="1901952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Ideia geral por trás do MVC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752344"/>
            <a:ext cx="3502152" cy="1234440"/>
          </a:xfrm>
          <a:prstGeom prst="roundRect">
            <a:avLst>
              <a:gd name="adj" fmla="val 7407"/>
            </a:avLst>
          </a:prstGeom>
          <a:solidFill>
            <a:srgbClr val="F2F5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2889504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282696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 o acesso a dados atrás de uma interface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33672" y="2752344"/>
            <a:ext cx="3502152" cy="1234440"/>
          </a:xfrm>
          <a:prstGeom prst="roundRect">
            <a:avLst>
              <a:gd name="adj" fmla="val 7407"/>
            </a:avLst>
          </a:prstGeom>
          <a:solidFill>
            <a:srgbClr val="F2F5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462272" y="2889504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462272" y="3282696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dedicada a regras de negócio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18704" y="2752344"/>
            <a:ext cx="3502152" cy="1234440"/>
          </a:xfrm>
          <a:prstGeom prst="roundRect">
            <a:avLst>
              <a:gd name="adj" fmla="val 7407"/>
            </a:avLst>
          </a:prstGeom>
          <a:solidFill>
            <a:srgbClr val="F2F5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147304" y="2889504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/ Hexagonal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8147304" y="3282696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negócio isolada de frameworks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133088"/>
            <a:ext cx="3502152" cy="1234440"/>
          </a:xfrm>
          <a:prstGeom prst="roundRect">
            <a:avLst>
              <a:gd name="adj" fmla="val 7407"/>
            </a:avLst>
          </a:prstGeom>
          <a:solidFill>
            <a:srgbClr val="F2F5F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4270248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Monólito vs. Microsserviços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4663440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sistema é distribuído — outro nível de decisão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623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Essas abordagens não são mutuamente excludentes — é comum combiná-las em um mesmo projeto.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Projetos Backend · Ênfase em MVC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80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MVC nasceu em 1979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antes da web existir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697480"/>
            <a:ext cx="7680960" cy="777240"/>
          </a:xfrm>
          <a:prstGeom prst="roundRect">
            <a:avLst>
              <a:gd name="adj" fmla="val 9412"/>
            </a:avLst>
          </a:prstGeom>
          <a:solidFill>
            <a:srgbClr val="1F2A6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269748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Trygve Reenskaug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69748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Criador do MVC, na Xerox PARC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657600"/>
            <a:ext cx="7680960" cy="777240"/>
          </a:xfrm>
          <a:prstGeom prst="roundRect">
            <a:avLst>
              <a:gd name="adj" fmla="val 9412"/>
            </a:avLst>
          </a:prstGeom>
          <a:solidFill>
            <a:srgbClr val="1F2A6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36576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Smalltalk-80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365760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Linguagem/ambiente onde nasceu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617720"/>
            <a:ext cx="7680960" cy="777240"/>
          </a:xfrm>
          <a:prstGeom prst="roundRect">
            <a:avLst>
              <a:gd name="adj" fmla="val 9412"/>
            </a:avLst>
          </a:prstGeom>
          <a:solidFill>
            <a:srgbClr val="1F2A6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461772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gráficas desktop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461772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original — não web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71500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EC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Décadas depois, frameworks web (Rails, Django, Spring MVC, ASP.NET MVC) adaptaram o conceito para requisição/resposta HTTP — um contexto bem diferente de uma interface gráfica interativa.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Projetos Backend · Ênfase em MVC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três papéis do MVC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2152" cy="4206240"/>
          </a:xfrm>
          <a:prstGeom prst="roundRect">
            <a:avLst>
              <a:gd name="adj" fmla="val 3133"/>
            </a:avLst>
          </a:prstGeom>
          <a:solidFill>
            <a:srgbClr val="F2F5F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502152" cy="9144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888236" y="17830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888236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3464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383280"/>
            <a:ext cx="28620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 os dados e as regras ligadas a eles. Não sabe nada sobre HTTP ou rotas.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33672" y="1371600"/>
            <a:ext cx="3502152" cy="4206240"/>
          </a:xfrm>
          <a:prstGeom prst="roundRect">
            <a:avLst>
              <a:gd name="adj" fmla="val 3133"/>
            </a:avLst>
          </a:prstGeom>
          <a:solidFill>
            <a:srgbClr val="F2F5FC"/>
          </a:solidFill>
          <a:ln/>
        </p:spPr>
      </p:sp>
      <p:sp>
        <p:nvSpPr>
          <p:cNvPr id="10" name="Shape 8"/>
          <p:cNvSpPr/>
          <p:nvPr/>
        </p:nvSpPr>
        <p:spPr>
          <a:xfrm>
            <a:off x="4233672" y="1371600"/>
            <a:ext cx="3502152" cy="91440"/>
          </a:xfrm>
          <a:prstGeom prst="roundRect">
            <a:avLst/>
          </a:prstGeom>
          <a:solidFill>
            <a:srgbClr val="3D57C7"/>
          </a:solidFill>
          <a:ln/>
        </p:spPr>
      </p:sp>
      <p:sp>
        <p:nvSpPr>
          <p:cNvPr id="11" name="Shape 9"/>
          <p:cNvSpPr/>
          <p:nvPr/>
        </p:nvSpPr>
        <p:spPr>
          <a:xfrm>
            <a:off x="5573268" y="1783080"/>
            <a:ext cx="822960" cy="822960"/>
          </a:xfrm>
          <a:prstGeom prst="ellipse">
            <a:avLst/>
          </a:prstGeom>
          <a:solidFill>
            <a:srgbClr val="3D57C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573268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4416552" y="283464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553712" y="3383280"/>
            <a:ext cx="28620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por apresentar o dado. Em uma API JSON, é o formato da resposta.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18704" y="1371600"/>
            <a:ext cx="3502152" cy="4206240"/>
          </a:xfrm>
          <a:prstGeom prst="roundRect">
            <a:avLst>
              <a:gd name="adj" fmla="val 3133"/>
            </a:avLst>
          </a:prstGeom>
          <a:solidFill>
            <a:srgbClr val="F2F5FC"/>
          </a:solidFill>
          <a:ln/>
        </p:spPr>
      </p:sp>
      <p:sp>
        <p:nvSpPr>
          <p:cNvPr id="16" name="Shape 14"/>
          <p:cNvSpPr/>
          <p:nvPr/>
        </p:nvSpPr>
        <p:spPr>
          <a:xfrm>
            <a:off x="7918704" y="1371600"/>
            <a:ext cx="3502152" cy="91440"/>
          </a:xfrm>
          <a:prstGeom prst="roundRect">
            <a:avLst/>
          </a:prstGeom>
          <a:solidFill>
            <a:srgbClr val="F2A541"/>
          </a:solidFill>
          <a:ln/>
        </p:spPr>
      </p:sp>
      <p:sp>
        <p:nvSpPr>
          <p:cNvPr id="17" name="Shape 15"/>
          <p:cNvSpPr/>
          <p:nvPr/>
        </p:nvSpPr>
        <p:spPr>
          <a:xfrm>
            <a:off x="9258300" y="1783080"/>
            <a:ext cx="822960" cy="8229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5830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8101584" y="283464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8238744" y="3383280"/>
            <a:ext cx="28620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a requisição, decide o que fazer, e o que devolver como resposta.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Projetos Backend · Ênfase em MVC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 de uma requisição em MVC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3796" y="2103120"/>
            <a:ext cx="1600200" cy="1005840"/>
          </a:xfrm>
          <a:prstGeom prst="roundRect">
            <a:avLst>
              <a:gd name="adj" fmla="val 9091"/>
            </a:avLst>
          </a:prstGeom>
          <a:solidFill>
            <a:srgbClr val="1F2A6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3796" y="21031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1428" y="2505456"/>
            <a:ext cx="201168" cy="201168"/>
          </a:xfrm>
          <a:prstGeom prst="rightArrow">
            <a:avLst/>
          </a:prstGeom>
          <a:solidFill>
            <a:srgbClr val="5C6480"/>
          </a:solidFill>
          <a:ln/>
        </p:spPr>
      </p:sp>
      <p:sp>
        <p:nvSpPr>
          <p:cNvPr id="6" name="Shape 4"/>
          <p:cNvSpPr/>
          <p:nvPr/>
        </p:nvSpPr>
        <p:spPr>
          <a:xfrm>
            <a:off x="2510028" y="2103120"/>
            <a:ext cx="160020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510028" y="21031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37660" y="2505456"/>
            <a:ext cx="201168" cy="201168"/>
          </a:xfrm>
          <a:prstGeom prst="rightArrow">
            <a:avLst/>
          </a:prstGeom>
          <a:solidFill>
            <a:srgbClr val="5C6480"/>
          </a:solidFill>
          <a:ln/>
        </p:spPr>
      </p:sp>
      <p:sp>
        <p:nvSpPr>
          <p:cNvPr id="9" name="Shape 7"/>
          <p:cNvSpPr/>
          <p:nvPr/>
        </p:nvSpPr>
        <p:spPr>
          <a:xfrm>
            <a:off x="4366260" y="2103120"/>
            <a:ext cx="1600200" cy="1005840"/>
          </a:xfrm>
          <a:prstGeom prst="roundRect">
            <a:avLst>
              <a:gd name="adj" fmla="val 9091"/>
            </a:avLst>
          </a:prstGeom>
          <a:solidFill>
            <a:srgbClr val="F2A54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66260" y="21031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93892" y="2505456"/>
            <a:ext cx="201168" cy="201168"/>
          </a:xfrm>
          <a:prstGeom prst="rightArrow">
            <a:avLst/>
          </a:prstGeom>
          <a:solidFill>
            <a:srgbClr val="5C6480"/>
          </a:solidFill>
          <a:ln/>
        </p:spPr>
      </p:sp>
      <p:sp>
        <p:nvSpPr>
          <p:cNvPr id="12" name="Shape 10"/>
          <p:cNvSpPr/>
          <p:nvPr/>
        </p:nvSpPr>
        <p:spPr>
          <a:xfrm>
            <a:off x="6222492" y="2103120"/>
            <a:ext cx="1600200" cy="1005840"/>
          </a:xfrm>
          <a:prstGeom prst="roundRect">
            <a:avLst>
              <a:gd name="adj" fmla="val 9091"/>
            </a:avLst>
          </a:prstGeom>
          <a:solidFill>
            <a:srgbClr val="3D57C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22492" y="21031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50124" y="2505456"/>
            <a:ext cx="201168" cy="201168"/>
          </a:xfrm>
          <a:prstGeom prst="rightArrow">
            <a:avLst/>
          </a:prstGeom>
          <a:solidFill>
            <a:srgbClr val="5C6480"/>
          </a:solidFill>
          <a:ln/>
        </p:spPr>
      </p:sp>
      <p:sp>
        <p:nvSpPr>
          <p:cNvPr id="15" name="Shape 13"/>
          <p:cNvSpPr/>
          <p:nvPr/>
        </p:nvSpPr>
        <p:spPr>
          <a:xfrm>
            <a:off x="8078724" y="2103120"/>
            <a:ext cx="1600200" cy="1005840"/>
          </a:xfrm>
          <a:prstGeom prst="roundRect">
            <a:avLst>
              <a:gd name="adj" fmla="val 9091"/>
            </a:avLst>
          </a:prstGeom>
          <a:solidFill>
            <a:srgbClr val="6E7FD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78724" y="21031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706356" y="2505456"/>
            <a:ext cx="201168" cy="201168"/>
          </a:xfrm>
          <a:prstGeom prst="rightArrow">
            <a:avLst/>
          </a:prstGeom>
          <a:solidFill>
            <a:srgbClr val="5C6480"/>
          </a:solidFill>
          <a:ln/>
        </p:spPr>
      </p:sp>
      <p:sp>
        <p:nvSpPr>
          <p:cNvPr id="18" name="Shape 16"/>
          <p:cNvSpPr/>
          <p:nvPr/>
        </p:nvSpPr>
        <p:spPr>
          <a:xfrm>
            <a:off x="9934956" y="2103120"/>
            <a:ext cx="1600200" cy="1005840"/>
          </a:xfrm>
          <a:prstGeom prst="roundRect">
            <a:avLst>
              <a:gd name="adj" fmla="val 9091"/>
            </a:avLst>
          </a:prstGeom>
          <a:solidFill>
            <a:srgbClr val="1F2A6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934956" y="21031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56616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direcionam para o Controller certo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pede dados/ações ao Model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monta a resposta com o resultado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formata a resposta (JSON, no nosso caso)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280160" y="5532120"/>
            <a:ext cx="9601200" cy="685800"/>
          </a:xfrm>
          <a:prstGeom prst="roundRect">
            <a:avLst>
              <a:gd name="adj" fmla="val 10667"/>
            </a:avLst>
          </a:prstGeom>
          <a:solidFill>
            <a:srgbClr val="F2F5F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508760" y="553212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Controller nunca deveria conter regra de acesso a dados nem lógica de formatação complexa — ele é o maestro, não quem toca o instrumento.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Projetos Backend · Ênfase em MVC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474720"/>
            <a:ext cx="4114800" cy="4114800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8892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Prática: refatorando para MVC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841248" y="4160520"/>
            <a:ext cx="1188720" cy="1188720"/>
          </a:xfrm>
          <a:prstGeom prst="roundRect">
            <a:avLst>
              <a:gd name="adj" fmla="val 50000"/>
            </a:avLst>
          </a:prstGeom>
          <a:solidFill>
            <a:srgbClr val="1F2A63"/>
          </a:solidFill>
          <a:ln w="19050">
            <a:solidFill>
              <a:srgbClr val="3D57C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41605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Projetos Backend · Ênfase em MVC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Nesta parte, vamos colocar a mão no código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esta página como guia enquanto conduz a prática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934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09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5544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Reaproveitando o projeto Express + Sequelize da aula de ORM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06654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066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116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pastas alvo: onde entra o controllers/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52374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523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4688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Relembrando o "antes": rota fazendo tudo sozinha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298094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2980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29260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Extraindo o Controller e deixando as rotas como um mapa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43814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438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3832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mudou de fato: testabilidade, reaproveitamento, organização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389534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3895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38404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fica a "View" numa API JSON — e a crítica ao termo MVC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435254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4352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42976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Extra: Service Layer, o próximo passo depois do MVC básico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0080" y="480974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4809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47548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prático para consolidar tudo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Projetos Backend · Ênfase em MVC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de pastas alvo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Reaproveitando o projeto Express + Sequelize da aula de ORM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1014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4937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aula-orm-sequelize/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config/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config.json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migrations/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models/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index.js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user.js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controllers/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userController.js   ← NOVO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routes/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users.js             ← agora só rotas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app.js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72200" y="155448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F2F5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46520" y="178308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em relação à aula de ORM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3317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rotas deixam de conter lógica e passam só a apontar para funções do Controller.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46520" y="3246120"/>
            <a:ext cx="48920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75120" y="34290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37490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Lógica dentro do handler da rota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46177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49377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 → userController.create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Projetos Backend · Ênfase em MVC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"Antes": rota fazendo tudo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Relembrando a aula anterior — funciona, mas não escala em organização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754880"/>
          </a:xfrm>
          <a:prstGeom prst="roundRect">
            <a:avLst>
              <a:gd name="adj" fmla="val 1538"/>
            </a:avLst>
          </a:prstGeom>
          <a:solidFill>
            <a:srgbClr val="1014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routes/users.js — ANTES (sem separação Controller)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User } = require('../models');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router.post('/users', async (req, res) =&gt; {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user = await User.create(req.body);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res.status(201).json(user);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(error) {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res.status(400).json({ error: error.message });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...demais rotas, cada uma com toda a lógica dentro do handler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Projetos Backend · Ênfase em MVC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"Depois": controller extraído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6492240" cy="5120640"/>
          </a:xfrm>
          <a:prstGeom prst="roundRect">
            <a:avLst>
              <a:gd name="adj" fmla="val 1429"/>
            </a:avLst>
          </a:prstGeom>
          <a:solidFill>
            <a:srgbClr val="1014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18872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controllers/userController.js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554480"/>
            <a:ext cx="60350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exports.create = async (req, res) =&gt; {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{ name, email, age } = req.body;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user = await User.create(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name, email, age }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res.status(201).json(user);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(error) {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(error.name ===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'SequelizeValidationError') {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res.status(400).json({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errors: error.errors.map(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e =&gt; e.message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});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res.status(500).json({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error: 'Erro interno'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269480" y="1051560"/>
            <a:ext cx="4370832" cy="5120640"/>
          </a:xfrm>
          <a:prstGeom prst="roundRect">
            <a:avLst>
              <a:gd name="adj" fmla="val 1674"/>
            </a:avLst>
          </a:prstGeom>
          <a:solidFill>
            <a:srgbClr val="1014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0" y="1188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routes/users.js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1554480"/>
            <a:ext cx="3931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userController =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require('../controllers/userController');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router.post('/users',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userController.create);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router.get('/users',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userController.findAll);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router.get('/users/:id',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userController.findOne);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router.put('/users/:id',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userController.update);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router.delete('/users/:id',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userController.remove);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module.exports = router;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Projetos Backend · Ênfase em MVC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mudou de fato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3502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35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801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viram um "mapa"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645920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Lendo routes/users.js, dá pra entender todos os endpoints em segundos.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093976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093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3911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testável e nomeada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404872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userController.create pode ser testado diretamente, sem subir o servidor inteiro.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8529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852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79806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Reaproveitamento mais fácil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163824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lógica pode ser chamada por um script de importação, fora do contexto HTTP.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61188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55701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 não muda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922776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organiza o que fica em volta do Model — não altera a camada de dados em si.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Projetos Backend · Ênfase em MVC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entra a "View" numa API?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crítica saudável ao termo MVC em backend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F2F5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clássico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Rails renderizando HTML. A View é literalmente um arquivo de template separado, com lógica de apresentação própria.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3520440"/>
            <a:ext cx="4800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3520440"/>
            <a:ext cx="4343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5C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 engine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5C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(.ejs, .erb, .pug...)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5C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gera HTML pronto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5C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o navegador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141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/ JSON (nosso caso)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19456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"arquivo de View". A formatação normalmente acontece na própria linha res.json(user), dentro do Controller.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352044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3C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 é comum dizer que uma API pura é mais "MC" do que "MVC" — e formalizar a View com serializers/DTOs que decidem exatamente quais campos vão para a resposta (ex.: nunca devolver uma senha).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Projetos Backend · Ênfase em MVC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Extra: para onde o projeto evolui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camada de Service, entre Controller e Model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309360" cy="4709160"/>
          </a:xfrm>
          <a:prstGeom prst="roundRect">
            <a:avLst>
              <a:gd name="adj" fmla="val 1553"/>
            </a:avLst>
          </a:prstGeom>
          <a:solidFill>
            <a:srgbClr val="1014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58521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services/userService.js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exports.createUser = async (data) =&gt; 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 = await User.create(data);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(user.age &amp;&amp; user.age &lt; 18) 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user.isMinor = true;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user.save();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user;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controllers/userController.js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userService = require(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'../services/userService'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exports.create = async (req, res) =&gt; 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 = await userService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.createUser(req.body);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res.status(201).json(user);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086600" y="1417320"/>
            <a:ext cx="4553712" cy="4709160"/>
          </a:xfrm>
          <a:prstGeom prst="roundRect">
            <a:avLst>
              <a:gd name="adj" fmla="val 2008"/>
            </a:avLst>
          </a:prstGeom>
          <a:solidFill>
            <a:srgbClr val="F2F5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60920" y="16459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extrair um Service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60920" y="2148840"/>
            <a:ext cx="4114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600"/>
              </a:spcAft>
              <a:buSzPct val="100000"/>
              <a:buChar char="▸"/>
            </a:pPr>
            <a:r>
              <a:rPr lang="en-US" sz="1300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Controller fica ainda mais enxuto — só lida com requisição/resposta HTTP</a:t>
            </a:r>
            <a:endParaRPr lang="en-US" sz="1300" dirty="0"/>
          </a:p>
          <a:p>
            <a:pPr marL="203200" indent="-203200">
              <a:spcAft>
                <a:spcPts val="1600"/>
              </a:spcAft>
              <a:buSzPct val="100000"/>
              <a:buChar char="▸"/>
            </a:pPr>
            <a:r>
              <a:rPr lang="en-US" sz="1300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de negócio real fica isolada, reutilizável fora do contexto HTTP</a:t>
            </a:r>
            <a:endParaRPr lang="en-US" sz="1300" dirty="0"/>
          </a:p>
          <a:p>
            <a:pPr marL="203200" indent="-203200">
              <a:spcAft>
                <a:spcPts val="1600"/>
              </a:spcAft>
              <a:buSzPct val="100000"/>
              <a:buChar char="▸"/>
            </a:pPr>
            <a:r>
              <a:rPr lang="en-US" sz="1300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princípio de separação de responsabilidades, um passo além do MVC básico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Projetos Backend · Ênfase em MVC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Desafio para os alunos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3502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35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801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o CRUD sem MVC para um Controller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645920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por rota, testando no Postman/curl após cada migração.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093976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093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3911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onde mora uma nova regra de negócio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404872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(hook beforeCreate), Controller ou Service — e justificar por escrito.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8529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852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79806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toPublicJSON(user)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163824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Removendo campos sensíveis antes da resposta — simulando o papel de "View".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61188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55701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Desenhar o fluxo de um POST /users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922776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→ Controller → Service → Model → Banco → volta, em um diagrama simples.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Projetos Backend · Ênfase em MVC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Recapitulando a jornada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600200"/>
            <a:ext cx="10058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backend sem nenhuma arquitetura, e os problemas reais que isso causa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arquitetura de software e separação de responsabilidades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panorama geral de arquiteturas e padrões, situando o MVC nele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em profundidade: origem, os três papéis, o fluxo de requisição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CRUD de usuário refatorado, extraindo um Controller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realmente fica a "View" em uma API REST/JSON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gancho para o próximo passo: a camada de Service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Projetos Backend · Ênfase em MVC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2236</Words>
  <Application>Microsoft Office PowerPoint</Application>
  <PresentationFormat>Widescreen</PresentationFormat>
  <Paragraphs>356</Paragraphs>
  <Slides>20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Bruno Fischer</cp:lastModifiedBy>
  <cp:revision>3</cp:revision>
  <dcterms:created xsi:type="dcterms:W3CDTF">2026-09-14T02:40:04Z</dcterms:created>
  <dcterms:modified xsi:type="dcterms:W3CDTF">2026-09-22T00:10:37Z</dcterms:modified>
</cp:coreProperties>
</file>